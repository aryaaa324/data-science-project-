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7" r:id="rId3"/>
    <p:sldId id="279" r:id="rId4"/>
    <p:sldId id="276" r:id="rId5"/>
    <p:sldId id="278" r:id="rId6"/>
    <p:sldId id="280" r:id="rId7"/>
    <p:sldId id="281" r:id="rId8"/>
    <p:sldId id="282" r:id="rId9"/>
    <p:sldId id="283" r:id="rId10"/>
    <p:sldId id="284" r:id="rId11"/>
    <p:sldId id="28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96FF"/>
    <a:srgbClr val="4050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3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CE81C5-9FD6-4FBC-A17F-483F94EE6BA2}"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A7923A-A55D-42B2-9E0B-43F8F6F3631E}" type="slidenum">
              <a:rPr lang="en-IN" smtClean="0"/>
              <a:t>‹#›</a:t>
            </a:fld>
            <a:endParaRPr lang="en-IN"/>
          </a:p>
        </p:txBody>
      </p:sp>
    </p:spTree>
    <p:extLst>
      <p:ext uri="{BB962C8B-B14F-4D97-AF65-F5344CB8AC3E}">
        <p14:creationId xmlns:p14="http://schemas.microsoft.com/office/powerpoint/2010/main" val="348976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D397-70C8-9482-9846-F54B4540C3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17E684-23A5-5987-BDCA-A117E3046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71EB75-6D76-0A51-C49F-21B29A0C8BAD}"/>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D8FCCAAF-2875-B5FE-2258-83C6DEBD88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A2C9D6-976C-5C40-9C6B-C2D78946E370}"/>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3590750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1C373-D6BD-D551-2120-579E68D3F9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D5E0C2-4B64-8D82-9995-2C7C87053F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560FD3-5FFE-B92F-4614-C1C30750A656}"/>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D817F242-3D58-DBBC-B07D-4E59CB09DE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0BACD-CD8E-7D0A-368B-4F0A76438100}"/>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37701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A1CC-A707-0A0A-6C1C-3332E15EE4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E11F9F-1EB6-299F-7EF2-7299904A6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F72652-F177-A41A-F4A6-99133E820940}"/>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BDB24FC8-5536-A96D-9641-92E73973F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376C78-413A-A7CA-BD2A-0A3A4A23A5D2}"/>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298478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B836A-1043-209E-FE8B-76F021CDA1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FA90E-728F-EA45-10F7-84DFAB9B8D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9D58FF-05E2-5F9B-1781-4A317902B4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9FFC09-4878-D7D5-3717-5B9138BAEA83}"/>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6" name="Footer Placeholder 5">
            <a:extLst>
              <a:ext uri="{FF2B5EF4-FFF2-40B4-BE49-F238E27FC236}">
                <a16:creationId xmlns:a16="http://schemas.microsoft.com/office/drawing/2014/main" id="{11373D8A-73EA-F14E-940D-5669AD781C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0A3F29-C325-6081-FB3F-9CB09BA1F859}"/>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3919174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58A5B-21C4-F43C-C03F-5FCCA12117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5A887A-A9ED-919D-5959-208DA5D926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B6379-AD28-B8A9-CF27-9165E0B1B0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A6A3B7-6E41-3CAF-590D-56F585C187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E444CE-2849-C2C7-FF01-B6480429F4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F896E7-9C5C-F4BA-629F-526C2B99289F}"/>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8" name="Footer Placeholder 7">
            <a:extLst>
              <a:ext uri="{FF2B5EF4-FFF2-40B4-BE49-F238E27FC236}">
                <a16:creationId xmlns:a16="http://schemas.microsoft.com/office/drawing/2014/main" id="{793E3A07-450F-AE08-8A1F-E46488142D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31AFCA-0E0F-C99C-8AD9-D563D38567AD}"/>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1370569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A199-34B7-4C17-104C-CAB7BFA194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1CCE81-B5D4-C1BC-E081-85A0F70AA6DE}"/>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4" name="Footer Placeholder 3">
            <a:extLst>
              <a:ext uri="{FF2B5EF4-FFF2-40B4-BE49-F238E27FC236}">
                <a16:creationId xmlns:a16="http://schemas.microsoft.com/office/drawing/2014/main" id="{649D7D1B-DBD1-5552-5027-D4BA4A7752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17B945-9348-90AF-FD38-DF3F267C8671}"/>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1741160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79D27-E316-640D-93C3-C3E01029C4CB}"/>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3" name="Footer Placeholder 2">
            <a:extLst>
              <a:ext uri="{FF2B5EF4-FFF2-40B4-BE49-F238E27FC236}">
                <a16:creationId xmlns:a16="http://schemas.microsoft.com/office/drawing/2014/main" id="{F1261403-8D1B-40F9-CE4F-CA3A5AF9C2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7B1B87-42B1-10E5-2F11-92BF56FAF6F1}"/>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3649004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C5D17-CBCC-FD8A-FE8A-E88E4F45E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EEBDC87-45D3-EB32-F40D-804D19DDAA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1F4973-0942-E5B3-0C49-BD160011BB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F36603-627D-40AC-AE63-31867A7D691C}"/>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6" name="Footer Placeholder 5">
            <a:extLst>
              <a:ext uri="{FF2B5EF4-FFF2-40B4-BE49-F238E27FC236}">
                <a16:creationId xmlns:a16="http://schemas.microsoft.com/office/drawing/2014/main" id="{2119551D-33B9-E94C-516B-33F5E6D053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46BF7F-F6B8-A78B-D91E-A85D2DA822AA}"/>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2731823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86813-3EEE-4379-F213-0A95189693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7A4C55-A99C-B076-9B09-71470B75B9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4C3C11-9A74-3C60-2549-B04167F442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EB51F9-D54A-7469-A3E7-F3200B4560E8}"/>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6" name="Footer Placeholder 5">
            <a:extLst>
              <a:ext uri="{FF2B5EF4-FFF2-40B4-BE49-F238E27FC236}">
                <a16:creationId xmlns:a16="http://schemas.microsoft.com/office/drawing/2014/main" id="{2AF0C662-6FF2-8D29-6029-7466EE9EDD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1DCA3E-E62D-8941-9E30-18BF2BFD4665}"/>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2127988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6240-BEB1-AA16-97C8-A552FCE398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2C8CB9-636B-60B9-74E2-0DECB41931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01AD49-9C39-E878-8354-18309684A569}"/>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20C8C174-44FD-9347-23A1-22E1299B5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BF244B-DF74-4E35-AD46-DEDBF1B51BF8}"/>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2847871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6A093C-0E44-908C-D603-141A2D1F32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DC98F8-4F50-CECD-809A-D74F5A075F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55AB8A-1D2B-B313-C2A4-3962713FDA10}"/>
              </a:ext>
            </a:extLst>
          </p:cNvPr>
          <p:cNvSpPr>
            <a:spLocks noGrp="1"/>
          </p:cNvSpPr>
          <p:nvPr>
            <p:ph type="dt" sz="half" idx="10"/>
          </p:nvPr>
        </p:nvSpPr>
        <p:spPr/>
        <p:txBody>
          <a:body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FBA33449-E670-8BE5-55A8-EAFEEF658D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AC7E24-D341-8C5E-7AA5-54E25FFCE3E1}"/>
              </a:ext>
            </a:extLst>
          </p:cNvPr>
          <p:cNvSpPr>
            <a:spLocks noGrp="1"/>
          </p:cNvSpPr>
          <p:nvPr>
            <p:ph type="sldNum" sz="quarter" idx="12"/>
          </p:nvPr>
        </p:nvSpPr>
        <p:spPr/>
        <p:txBody>
          <a:bodyPr/>
          <a:lstStyle/>
          <a:p>
            <a:fld id="{A2FAA716-8B14-426B-BEF3-6029B349B1A3}" type="slidenum">
              <a:rPr lang="en-IN" smtClean="0"/>
              <a:t>‹#›</a:t>
            </a:fld>
            <a:endParaRPr lang="en-IN"/>
          </a:p>
        </p:txBody>
      </p:sp>
    </p:spTree>
    <p:extLst>
      <p:ext uri="{BB962C8B-B14F-4D97-AF65-F5344CB8AC3E}">
        <p14:creationId xmlns:p14="http://schemas.microsoft.com/office/powerpoint/2010/main" val="2343051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ED1A05-20D5-B833-B687-F954C6DBCA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3C1B09-7B6B-35BF-F1E1-E50FC131AD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64B11-120A-4BDC-B510-61C9833127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2C640B-8D79-4C09-AB8F-6125947D281B}" type="datetimeFigureOut">
              <a:rPr lang="en-IN" smtClean="0"/>
              <a:t>31-10-2025</a:t>
            </a:fld>
            <a:endParaRPr lang="en-IN"/>
          </a:p>
        </p:txBody>
      </p:sp>
      <p:sp>
        <p:nvSpPr>
          <p:cNvPr id="5" name="Footer Placeholder 4">
            <a:extLst>
              <a:ext uri="{FF2B5EF4-FFF2-40B4-BE49-F238E27FC236}">
                <a16:creationId xmlns:a16="http://schemas.microsoft.com/office/drawing/2014/main" id="{56134C78-C63F-7DDB-232C-C73DDB7A34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C751A2C-DAA5-42D4-987A-B02B17A929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FAA716-8B14-426B-BEF3-6029B349B1A3}" type="slidenum">
              <a:rPr lang="en-IN" smtClean="0"/>
              <a:t>‹#›</a:t>
            </a:fld>
            <a:endParaRPr lang="en-IN"/>
          </a:p>
        </p:txBody>
      </p:sp>
    </p:spTree>
    <p:extLst>
      <p:ext uri="{BB962C8B-B14F-4D97-AF65-F5344CB8AC3E}">
        <p14:creationId xmlns:p14="http://schemas.microsoft.com/office/powerpoint/2010/main" val="1939961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8D69CD-1A5B-0838-99B3-5284636E3ED0}"/>
              </a:ext>
            </a:extLst>
          </p:cNvPr>
          <p:cNvSpPr txBox="1">
            <a:spLocks/>
          </p:cNvSpPr>
          <p:nvPr/>
        </p:nvSpPr>
        <p:spPr>
          <a:xfrm>
            <a:off x="175004" y="1590022"/>
            <a:ext cx="3428167" cy="6452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600" b="1" dirty="0">
              <a:solidFill>
                <a:srgbClr val="00FFFF"/>
              </a:solidFill>
              <a:latin typeface="Rubik" pitchFamily="2" charset="-79"/>
              <a:cs typeface="Rubik" pitchFamily="2" charset="-79"/>
            </a:endParaRPr>
          </a:p>
        </p:txBody>
      </p:sp>
      <p:sp>
        <p:nvSpPr>
          <p:cNvPr id="11" name="Subtitle 2">
            <a:extLst>
              <a:ext uri="{FF2B5EF4-FFF2-40B4-BE49-F238E27FC236}">
                <a16:creationId xmlns:a16="http://schemas.microsoft.com/office/drawing/2014/main" id="{A504D5B7-5E29-C467-05E6-D54DFC102902}"/>
              </a:ext>
            </a:extLst>
          </p:cNvPr>
          <p:cNvSpPr txBox="1">
            <a:spLocks/>
          </p:cNvSpPr>
          <p:nvPr/>
        </p:nvSpPr>
        <p:spPr>
          <a:xfrm>
            <a:off x="0" y="2235319"/>
            <a:ext cx="11749548" cy="50615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solidFill>
                <a:schemeClr val="bg1"/>
              </a:solidFill>
              <a:latin typeface="Rubik" pitchFamily="2" charset="-79"/>
              <a:cs typeface="Rubik" pitchFamily="2" charset="-79"/>
            </a:endParaRPr>
          </a:p>
        </p:txBody>
      </p:sp>
      <p:sp>
        <p:nvSpPr>
          <p:cNvPr id="19" name="TextBox 18">
            <a:extLst>
              <a:ext uri="{FF2B5EF4-FFF2-40B4-BE49-F238E27FC236}">
                <a16:creationId xmlns:a16="http://schemas.microsoft.com/office/drawing/2014/main" id="{35BBA496-6E02-8404-6A96-5B6598D5338F}"/>
              </a:ext>
            </a:extLst>
          </p:cNvPr>
          <p:cNvSpPr txBox="1"/>
          <p:nvPr/>
        </p:nvSpPr>
        <p:spPr>
          <a:xfrm>
            <a:off x="4107874" y="149675"/>
            <a:ext cx="8084126" cy="861774"/>
          </a:xfrm>
          <a:prstGeom prst="rect">
            <a:avLst/>
          </a:prstGeom>
          <a:noFill/>
        </p:spPr>
        <p:txBody>
          <a:bodyPr wrap="square" rtlCol="0">
            <a:spAutoFit/>
          </a:bodyPr>
          <a:lstStyle/>
          <a:p>
            <a:r>
              <a:rPr lang="en-US" sz="3200" b="1" dirty="0">
                <a:solidFill>
                  <a:srgbClr val="0070C0"/>
                </a:solidFill>
                <a:latin typeface="Arial Rounded MT Bold" panose="020F0704030504030204" pitchFamily="34" charset="0"/>
              </a:rPr>
              <a:t>Heath Management Information System </a:t>
            </a:r>
          </a:p>
          <a:p>
            <a:endParaRPr lang="en-IN" dirty="0"/>
          </a:p>
        </p:txBody>
      </p:sp>
      <p:pic>
        <p:nvPicPr>
          <p:cNvPr id="2" name="Picture 1">
            <a:extLst>
              <a:ext uri="{FF2B5EF4-FFF2-40B4-BE49-F238E27FC236}">
                <a16:creationId xmlns:a16="http://schemas.microsoft.com/office/drawing/2014/main" id="{5F051FF6-AF8D-A197-CFF3-665B6443CA96}"/>
              </a:ext>
            </a:extLst>
          </p:cNvPr>
          <p:cNvPicPr>
            <a:picLocks noChangeAspect="1"/>
          </p:cNvPicPr>
          <p:nvPr/>
        </p:nvPicPr>
        <p:blipFill>
          <a:blip r:embed="rId2"/>
          <a:stretch>
            <a:fillRect/>
          </a:stretch>
        </p:blipFill>
        <p:spPr>
          <a:xfrm>
            <a:off x="0" y="758536"/>
            <a:ext cx="12192000" cy="6099465"/>
          </a:xfrm>
          <a:prstGeom prst="rect">
            <a:avLst/>
          </a:prstGeom>
        </p:spPr>
      </p:pic>
      <p:pic>
        <p:nvPicPr>
          <p:cNvPr id="3" name="Picture 2">
            <a:extLst>
              <a:ext uri="{FF2B5EF4-FFF2-40B4-BE49-F238E27FC236}">
                <a16:creationId xmlns:a16="http://schemas.microsoft.com/office/drawing/2014/main" id="{A1BDE6BB-4B6D-6F16-3EDF-6A4140324296}"/>
              </a:ext>
            </a:extLst>
          </p:cNvPr>
          <p:cNvPicPr>
            <a:picLocks noChangeAspect="1"/>
          </p:cNvPicPr>
          <p:nvPr/>
        </p:nvPicPr>
        <p:blipFill>
          <a:blip r:embed="rId3"/>
          <a:stretch>
            <a:fillRect/>
          </a:stretch>
        </p:blipFill>
        <p:spPr>
          <a:xfrm>
            <a:off x="0" y="-1"/>
            <a:ext cx="4107874" cy="758537"/>
          </a:xfrm>
          <a:prstGeom prst="rect">
            <a:avLst/>
          </a:prstGeom>
        </p:spPr>
      </p:pic>
    </p:spTree>
    <p:extLst>
      <p:ext uri="{BB962C8B-B14F-4D97-AF65-F5344CB8AC3E}">
        <p14:creationId xmlns:p14="http://schemas.microsoft.com/office/powerpoint/2010/main" val="2917836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CCB93-CF19-E5DA-DBB6-77E980D7400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F30BFF2-73DE-8EF8-0C96-F1CEC64698ED}"/>
              </a:ext>
            </a:extLst>
          </p:cNvPr>
          <p:cNvSpPr txBox="1">
            <a:spLocks/>
          </p:cNvSpPr>
          <p:nvPr/>
        </p:nvSpPr>
        <p:spPr>
          <a:xfrm>
            <a:off x="3475450" y="1176900"/>
            <a:ext cx="8968996" cy="6452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2800" b="1" dirty="0">
              <a:solidFill>
                <a:srgbClr val="0070C0"/>
              </a:solidFill>
              <a:latin typeface="Rubik" pitchFamily="2" charset="-79"/>
              <a:cs typeface="Rubik" pitchFamily="2" charset="-79"/>
            </a:endParaRPr>
          </a:p>
        </p:txBody>
      </p:sp>
      <p:sp>
        <p:nvSpPr>
          <p:cNvPr id="6" name="Subtitle 2">
            <a:extLst>
              <a:ext uri="{FF2B5EF4-FFF2-40B4-BE49-F238E27FC236}">
                <a16:creationId xmlns:a16="http://schemas.microsoft.com/office/drawing/2014/main" id="{A682D7F2-DAB7-92DB-0490-7D0FE118EE18}"/>
              </a:ext>
            </a:extLst>
          </p:cNvPr>
          <p:cNvSpPr txBox="1">
            <a:spLocks/>
          </p:cNvSpPr>
          <p:nvPr/>
        </p:nvSpPr>
        <p:spPr>
          <a:xfrm>
            <a:off x="3507025" y="1423471"/>
            <a:ext cx="8129900" cy="514358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300" dirty="0"/>
              <a:t>We developed a </a:t>
            </a:r>
            <a:r>
              <a:rPr lang="en-US" sz="1300" b="1" dirty="0"/>
              <a:t>complete Data Science pipeline</a:t>
            </a:r>
            <a:r>
              <a:rPr lang="en-US" sz="1300" dirty="0"/>
              <a:t> to understand and model </a:t>
            </a:r>
            <a:r>
              <a:rPr lang="en-US" sz="1300" b="1" dirty="0"/>
              <a:t>state-wise healthcare service utilization patterns</a:t>
            </a:r>
            <a:r>
              <a:rPr lang="en-US" sz="1300" dirty="0"/>
              <a:t> and </a:t>
            </a:r>
            <a:r>
              <a:rPr lang="en-US" sz="1300" b="1" dirty="0"/>
              <a:t>predict hospital inpatient load</a:t>
            </a:r>
            <a:r>
              <a:rPr lang="en-US" sz="1300" dirty="0"/>
              <a:t>.</a:t>
            </a:r>
            <a:endParaRPr lang="en-IN" sz="1300" dirty="0"/>
          </a:p>
        </p:txBody>
      </p:sp>
      <p:sp>
        <p:nvSpPr>
          <p:cNvPr id="8" name="TextBox 7">
            <a:extLst>
              <a:ext uri="{FF2B5EF4-FFF2-40B4-BE49-F238E27FC236}">
                <a16:creationId xmlns:a16="http://schemas.microsoft.com/office/drawing/2014/main" id="{0614E58D-2463-D5E5-D1E1-4EB9659CBF5F}"/>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rgbClr val="0070C0"/>
              </a:solidFill>
            </a:endParaRPr>
          </a:p>
        </p:txBody>
      </p:sp>
      <p:sp>
        <p:nvSpPr>
          <p:cNvPr id="12" name="Rectangle 11">
            <a:extLst>
              <a:ext uri="{FF2B5EF4-FFF2-40B4-BE49-F238E27FC236}">
                <a16:creationId xmlns:a16="http://schemas.microsoft.com/office/drawing/2014/main" id="{240FA585-BCAA-4889-FB13-5D6DDEF80144}"/>
              </a:ext>
            </a:extLst>
          </p:cNvPr>
          <p:cNvSpPr/>
          <p:nvPr/>
        </p:nvSpPr>
        <p:spPr>
          <a:xfrm>
            <a:off x="332114" y="869921"/>
            <a:ext cx="2528439" cy="39733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7320327E-4AA5-BFBF-8EA6-DCBE16EF2D26}"/>
              </a:ext>
            </a:extLst>
          </p:cNvPr>
          <p:cNvSpPr/>
          <p:nvPr/>
        </p:nvSpPr>
        <p:spPr>
          <a:xfrm>
            <a:off x="339770" y="869920"/>
            <a:ext cx="2531978" cy="5697133"/>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996FF"/>
              </a:solidFill>
            </a:endParaRPr>
          </a:p>
        </p:txBody>
      </p:sp>
      <p:sp>
        <p:nvSpPr>
          <p:cNvPr id="15" name="TextBox 14">
            <a:extLst>
              <a:ext uri="{FF2B5EF4-FFF2-40B4-BE49-F238E27FC236}">
                <a16:creationId xmlns:a16="http://schemas.microsoft.com/office/drawing/2014/main" id="{BA43D516-A21C-76F8-00E7-254D3E7A3485}"/>
              </a:ext>
            </a:extLst>
          </p:cNvPr>
          <p:cNvSpPr txBox="1"/>
          <p:nvPr/>
        </p:nvSpPr>
        <p:spPr>
          <a:xfrm>
            <a:off x="504004" y="1465889"/>
            <a:ext cx="2329445" cy="4909036"/>
          </a:xfrm>
          <a:prstGeom prst="rect">
            <a:avLst/>
          </a:prstGeom>
          <a:noFill/>
        </p:spPr>
        <p:txBody>
          <a:bodyPr wrap="square" lIns="91440" tIns="45720" rIns="91440" bIns="45720" anchor="t">
            <a:spAutoFit/>
          </a:bodyPr>
          <a:lstStyle/>
          <a:p>
            <a:pPr algn="just"/>
            <a:endParaRPr lang="en-US" dirty="0"/>
          </a:p>
          <a:p>
            <a:pPr lvl="0" algn="just" eaLnBrk="0" fontAlgn="base" hangingPunct="0">
              <a:spcBef>
                <a:spcPct val="0"/>
              </a:spcBef>
              <a:spcAft>
                <a:spcPct val="0"/>
              </a:spcAft>
              <a:buFontTx/>
              <a:buChar char="•"/>
            </a:pPr>
            <a:r>
              <a:rPr lang="en-US" altLang="en-US" sz="1300" dirty="0">
                <a:latin typeface="Times New Roman" panose="02020603050405020304" pitchFamily="18" charset="0"/>
                <a:cs typeface="Times New Roman" panose="02020603050405020304" pitchFamily="18" charset="0"/>
              </a:rPr>
              <a:t>The Health Management Information System (HMIS) collects monthly healthcare service data from hospitals across India.</a:t>
            </a:r>
          </a:p>
          <a:p>
            <a:pPr lvl="0" algn="just" eaLnBrk="0" fontAlgn="base" hangingPunct="0">
              <a:spcBef>
                <a:spcPct val="0"/>
              </a:spcBef>
              <a:spcAft>
                <a:spcPct val="0"/>
              </a:spcAft>
              <a:buFontTx/>
              <a:buChar char="•"/>
            </a:pPr>
            <a:r>
              <a:rPr lang="en-US" altLang="en-US" sz="1300" dirty="0">
                <a:latin typeface="Times New Roman" panose="02020603050405020304" pitchFamily="18" charset="0"/>
                <a:cs typeface="Times New Roman" panose="02020603050405020304" pitchFamily="18" charset="0"/>
              </a:rPr>
              <a:t>However, this data is large, complex, and difficult to interpret directly.</a:t>
            </a:r>
          </a:p>
          <a:p>
            <a:pPr lvl="0" algn="just" eaLnBrk="0" fontAlgn="base" hangingPunct="0">
              <a:spcBef>
                <a:spcPct val="0"/>
              </a:spcBef>
              <a:spcAft>
                <a:spcPct val="0"/>
              </a:spcAft>
              <a:buFontTx/>
              <a:buChar char="•"/>
            </a:pPr>
            <a:r>
              <a:rPr lang="en-US" altLang="en-US" sz="1300" dirty="0">
                <a:latin typeface="Times New Roman" panose="02020603050405020304" pitchFamily="18" charset="0"/>
                <a:cs typeface="Times New Roman" panose="02020603050405020304" pitchFamily="18" charset="0"/>
              </a:rPr>
              <a:t>Policymakers struggle to identify which states are performing well, where healthcare services are lacking, and how patient load changes over time.</a:t>
            </a:r>
          </a:p>
          <a:p>
            <a:pPr lvl="0" algn="just" eaLnBrk="0" fontAlgn="base" hangingPunct="0">
              <a:spcBef>
                <a:spcPct val="0"/>
              </a:spcBef>
              <a:spcAft>
                <a:spcPct val="0"/>
              </a:spcAft>
              <a:buFontTx/>
              <a:buChar char="•"/>
            </a:pPr>
            <a:r>
              <a:rPr lang="en-US" altLang="en-US" sz="1300" dirty="0">
                <a:latin typeface="Times New Roman" panose="02020603050405020304" pitchFamily="18" charset="0"/>
                <a:cs typeface="Times New Roman" panose="02020603050405020304" pitchFamily="18" charset="0"/>
              </a:rPr>
              <a:t>There is no direct system to:</a:t>
            </a:r>
          </a:p>
          <a:p>
            <a:pPr marL="171450" lvl="0" indent="-171450" algn="just" eaLnBrk="0" fontAlgn="base" hangingPunct="0">
              <a:spcBef>
                <a:spcPct val="0"/>
              </a:spcBef>
              <a:spcAft>
                <a:spcPct val="0"/>
              </a:spcAft>
              <a:buFont typeface="Wingdings" panose="05000000000000000000" pitchFamily="2" charset="2"/>
              <a:buChar char="Ø"/>
            </a:pPr>
            <a:r>
              <a:rPr lang="en-US" altLang="en-US" sz="1300" dirty="0">
                <a:latin typeface="Times New Roman" panose="02020603050405020304" pitchFamily="18" charset="0"/>
                <a:cs typeface="Times New Roman" panose="02020603050405020304" pitchFamily="18" charset="0"/>
              </a:rPr>
              <a:t>Compare healthcare performance between states</a:t>
            </a:r>
          </a:p>
          <a:p>
            <a:pPr marL="171450" lvl="0" indent="-171450" algn="just" eaLnBrk="0" fontAlgn="base" hangingPunct="0">
              <a:spcBef>
                <a:spcPct val="0"/>
              </a:spcBef>
              <a:spcAft>
                <a:spcPct val="0"/>
              </a:spcAft>
              <a:buFont typeface="Wingdings" panose="05000000000000000000" pitchFamily="2" charset="2"/>
              <a:buChar char="Ø"/>
            </a:pPr>
            <a:r>
              <a:rPr lang="en-US" altLang="en-US" sz="1300" dirty="0">
                <a:latin typeface="Times New Roman" panose="02020603050405020304" pitchFamily="18" charset="0"/>
                <a:cs typeface="Times New Roman" panose="02020603050405020304" pitchFamily="18" charset="0"/>
              </a:rPr>
              <a:t>Group states with similar healthcare patterns</a:t>
            </a:r>
          </a:p>
          <a:p>
            <a:pPr marL="171450" lvl="0" indent="-171450" algn="just" eaLnBrk="0" fontAlgn="base" hangingPunct="0">
              <a:spcBef>
                <a:spcPct val="0"/>
              </a:spcBef>
              <a:spcAft>
                <a:spcPct val="0"/>
              </a:spcAft>
              <a:buFont typeface="Wingdings" panose="05000000000000000000" pitchFamily="2" charset="2"/>
              <a:buChar char="Ø"/>
            </a:pPr>
            <a:r>
              <a:rPr lang="en-US" altLang="en-US" sz="1300" dirty="0">
                <a:latin typeface="Times New Roman" panose="02020603050405020304" pitchFamily="18" charset="0"/>
                <a:cs typeface="Times New Roman" panose="02020603050405020304" pitchFamily="18" charset="0"/>
              </a:rPr>
              <a:t>Predict hospital in-patient load for resource planning</a:t>
            </a:r>
          </a:p>
          <a:p>
            <a:pPr algn="just"/>
            <a:br>
              <a:rPr lang="en-US" sz="1100" dirty="0"/>
            </a:br>
            <a:endParaRPr lang="en-IN" sz="1100" dirty="0">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0C9106CD-0967-6670-BA5E-BC5D78281BD7}"/>
              </a:ext>
            </a:extLst>
          </p:cNvPr>
          <p:cNvGrpSpPr/>
          <p:nvPr/>
        </p:nvGrpSpPr>
        <p:grpSpPr>
          <a:xfrm>
            <a:off x="3151970" y="869919"/>
            <a:ext cx="8807966" cy="5697135"/>
            <a:chOff x="2926755" y="1614948"/>
            <a:chExt cx="5087531" cy="4759614"/>
          </a:xfrm>
        </p:grpSpPr>
        <p:sp>
          <p:nvSpPr>
            <p:cNvPr id="21" name="Rectangle 64">
              <a:extLst>
                <a:ext uri="{FF2B5EF4-FFF2-40B4-BE49-F238E27FC236}">
                  <a16:creationId xmlns:a16="http://schemas.microsoft.com/office/drawing/2014/main" id="{E612B9B9-D1C5-BF71-2DFC-FE8AC92EE9D5}"/>
                </a:ext>
              </a:extLst>
            </p:cNvPr>
            <p:cNvSpPr/>
            <p:nvPr/>
          </p:nvSpPr>
          <p:spPr>
            <a:xfrm>
              <a:off x="3111435" y="1623571"/>
              <a:ext cx="4901516" cy="38718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2" name="Rectangle 21">
              <a:extLst>
                <a:ext uri="{FF2B5EF4-FFF2-40B4-BE49-F238E27FC236}">
                  <a16:creationId xmlns:a16="http://schemas.microsoft.com/office/drawing/2014/main" id="{94E94C25-B6FF-C601-F52A-AC256A1F1917}"/>
                </a:ext>
              </a:extLst>
            </p:cNvPr>
            <p:cNvSpPr/>
            <p:nvPr/>
          </p:nvSpPr>
          <p:spPr>
            <a:xfrm>
              <a:off x="4062786" y="1688009"/>
              <a:ext cx="65" cy="264357"/>
            </a:xfrm>
            <a:prstGeom prst="rect">
              <a:avLst/>
            </a:prstGeom>
            <a:ln>
              <a:solidFill>
                <a:srgbClr val="0070C0"/>
              </a:solidFill>
            </a:ln>
          </p:spPr>
          <p:txBody>
            <a:bodyPr wrap="none" lIns="0" tIns="0" rIns="0" bIns="0">
              <a:spAutoFit/>
            </a:bodyPr>
            <a:lstStyle/>
            <a:p>
              <a:pPr>
                <a:buClr>
                  <a:schemeClr val="accent1"/>
                </a:buClr>
                <a:buSzPct val="60000"/>
              </a:pPr>
              <a:endParaRPr lang="en-US" sz="1600" b="1" dirty="0">
                <a:solidFill>
                  <a:schemeClr val="bg1"/>
                </a:solidFill>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983C73F5-627A-95BA-88F0-111C2ACD27FF}"/>
                </a:ext>
              </a:extLst>
            </p:cNvPr>
            <p:cNvSpPr/>
            <p:nvPr/>
          </p:nvSpPr>
          <p:spPr>
            <a:xfrm>
              <a:off x="2926755" y="1614948"/>
              <a:ext cx="244006" cy="397333"/>
            </a:xfrm>
            <a:prstGeom prst="ellipse">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latin typeface="Arial" panose="020B0604020202020204" pitchFamily="34" charset="0"/>
                  <a:cs typeface="Arial" panose="020B0604020202020204" pitchFamily="34" charset="0"/>
                </a:rPr>
                <a:t>2</a:t>
              </a:r>
            </a:p>
          </p:txBody>
        </p:sp>
        <p:sp>
          <p:nvSpPr>
            <p:cNvPr id="26" name="Rectangle 25">
              <a:extLst>
                <a:ext uri="{FF2B5EF4-FFF2-40B4-BE49-F238E27FC236}">
                  <a16:creationId xmlns:a16="http://schemas.microsoft.com/office/drawing/2014/main" id="{0C5FBEA2-1D62-2BD5-7B97-CB95FBA4D669}"/>
                </a:ext>
              </a:extLst>
            </p:cNvPr>
            <p:cNvSpPr/>
            <p:nvPr/>
          </p:nvSpPr>
          <p:spPr>
            <a:xfrm>
              <a:off x="3069869" y="2010753"/>
              <a:ext cx="4944417" cy="4363809"/>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9" name="TextBox 28">
            <a:extLst>
              <a:ext uri="{FF2B5EF4-FFF2-40B4-BE49-F238E27FC236}">
                <a16:creationId xmlns:a16="http://schemas.microsoft.com/office/drawing/2014/main" id="{7A2BF976-4ABF-2B21-F4BE-6F8CE48563CD}"/>
              </a:ext>
            </a:extLst>
          </p:cNvPr>
          <p:cNvSpPr txBox="1"/>
          <p:nvPr/>
        </p:nvSpPr>
        <p:spPr>
          <a:xfrm>
            <a:off x="3775726" y="949446"/>
            <a:ext cx="1941908" cy="338554"/>
          </a:xfrm>
          <a:prstGeom prst="rect">
            <a:avLst/>
          </a:prstGeom>
          <a:noFill/>
        </p:spPr>
        <p:txBody>
          <a:bodyPr wrap="square">
            <a:spAutoFit/>
          </a:bodyPr>
          <a:lstStyle/>
          <a:p>
            <a:r>
              <a:rPr lang="en-US" sz="1600" b="1" dirty="0">
                <a:solidFill>
                  <a:schemeClr val="bg1"/>
                </a:solidFill>
              </a:rPr>
              <a:t>Solution:</a:t>
            </a:r>
            <a:endParaRPr lang="en-IN" sz="1600" b="1" dirty="0">
              <a:solidFill>
                <a:schemeClr val="bg1"/>
              </a:solidFill>
            </a:endParaRPr>
          </a:p>
        </p:txBody>
      </p:sp>
      <p:sp>
        <p:nvSpPr>
          <p:cNvPr id="13" name="Oval 12">
            <a:extLst>
              <a:ext uri="{FF2B5EF4-FFF2-40B4-BE49-F238E27FC236}">
                <a16:creationId xmlns:a16="http://schemas.microsoft.com/office/drawing/2014/main" id="{6AC603A0-350C-C68A-1255-8BE4700B6A82}"/>
              </a:ext>
            </a:extLst>
          </p:cNvPr>
          <p:cNvSpPr/>
          <p:nvPr/>
        </p:nvSpPr>
        <p:spPr>
          <a:xfrm>
            <a:off x="132408" y="869921"/>
            <a:ext cx="422667" cy="397333"/>
          </a:xfrm>
          <a:prstGeom prst="ellipse">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1</a:t>
            </a:r>
          </a:p>
        </p:txBody>
      </p:sp>
      <p:sp>
        <p:nvSpPr>
          <p:cNvPr id="3" name="Rectangle 2">
            <a:extLst>
              <a:ext uri="{FF2B5EF4-FFF2-40B4-BE49-F238E27FC236}">
                <a16:creationId xmlns:a16="http://schemas.microsoft.com/office/drawing/2014/main" id="{6C3FDFBC-CD46-07A3-5BF7-1C65F575F3A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B5F24F35-671D-9DC5-585A-1A22830F066E}"/>
              </a:ext>
            </a:extLst>
          </p:cNvPr>
          <p:cNvPicPr>
            <a:picLocks noChangeAspect="1"/>
          </p:cNvPicPr>
          <p:nvPr/>
        </p:nvPicPr>
        <p:blipFill>
          <a:blip r:embed="rId2"/>
          <a:stretch>
            <a:fillRect/>
          </a:stretch>
        </p:blipFill>
        <p:spPr>
          <a:xfrm>
            <a:off x="129879" y="13969"/>
            <a:ext cx="11155332" cy="657317"/>
          </a:xfrm>
          <a:prstGeom prst="rect">
            <a:avLst/>
          </a:prstGeom>
        </p:spPr>
      </p:pic>
      <p:sp>
        <p:nvSpPr>
          <p:cNvPr id="24" name="TextBox 23">
            <a:extLst>
              <a:ext uri="{FF2B5EF4-FFF2-40B4-BE49-F238E27FC236}">
                <a16:creationId xmlns:a16="http://schemas.microsoft.com/office/drawing/2014/main" id="{DA82C42D-0E45-ED1E-AAD5-4FC5026268C9}"/>
              </a:ext>
            </a:extLst>
          </p:cNvPr>
          <p:cNvSpPr txBox="1"/>
          <p:nvPr/>
        </p:nvSpPr>
        <p:spPr>
          <a:xfrm>
            <a:off x="555075" y="1323624"/>
            <a:ext cx="1175923" cy="369332"/>
          </a:xfrm>
          <a:prstGeom prst="rect">
            <a:avLst/>
          </a:prstGeom>
          <a:noFill/>
        </p:spPr>
        <p:txBody>
          <a:bodyPr wrap="square">
            <a:spAutoFit/>
          </a:bodyPr>
          <a:lstStyle/>
          <a:p>
            <a:pPr algn="just"/>
            <a:r>
              <a:rPr lang="en-US" b="1" dirty="0"/>
              <a:t>Problem:</a:t>
            </a:r>
          </a:p>
        </p:txBody>
      </p:sp>
      <p:pic>
        <p:nvPicPr>
          <p:cNvPr id="43" name="Picture 42">
            <a:extLst>
              <a:ext uri="{FF2B5EF4-FFF2-40B4-BE49-F238E27FC236}">
                <a16:creationId xmlns:a16="http://schemas.microsoft.com/office/drawing/2014/main" id="{1D1E69E2-1D96-BBCD-48DE-CAB6054A7ADF}"/>
              </a:ext>
            </a:extLst>
          </p:cNvPr>
          <p:cNvPicPr>
            <a:picLocks noChangeAspect="1"/>
          </p:cNvPicPr>
          <p:nvPr/>
        </p:nvPicPr>
        <p:blipFill>
          <a:blip r:embed="rId3"/>
          <a:stretch>
            <a:fillRect/>
          </a:stretch>
        </p:blipFill>
        <p:spPr>
          <a:xfrm>
            <a:off x="3667991" y="1845202"/>
            <a:ext cx="8184239" cy="4698846"/>
          </a:xfrm>
          <a:prstGeom prst="rect">
            <a:avLst/>
          </a:prstGeom>
        </p:spPr>
      </p:pic>
    </p:spTree>
    <p:extLst>
      <p:ext uri="{BB962C8B-B14F-4D97-AF65-F5344CB8AC3E}">
        <p14:creationId xmlns:p14="http://schemas.microsoft.com/office/powerpoint/2010/main" val="3875679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8136-BD0F-9018-340D-3B092F0006C6}"/>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2A1D985D-0742-296F-FE99-8CD300612141}"/>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94C8E93E-3339-FEA4-7D63-1F663D5389E3}"/>
              </a:ext>
            </a:extLst>
          </p:cNvPr>
          <p:cNvSpPr txBox="1"/>
          <p:nvPr/>
        </p:nvSpPr>
        <p:spPr>
          <a:xfrm>
            <a:off x="0" y="6685232"/>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grpSp>
        <p:nvGrpSpPr>
          <p:cNvPr id="18" name="Group 17">
            <a:extLst>
              <a:ext uri="{FF2B5EF4-FFF2-40B4-BE49-F238E27FC236}">
                <a16:creationId xmlns:a16="http://schemas.microsoft.com/office/drawing/2014/main" id="{4079806E-45B7-299B-94E1-49C303B15156}"/>
              </a:ext>
            </a:extLst>
          </p:cNvPr>
          <p:cNvGrpSpPr/>
          <p:nvPr/>
        </p:nvGrpSpPr>
        <p:grpSpPr>
          <a:xfrm>
            <a:off x="40121" y="732985"/>
            <a:ext cx="11826600" cy="5688885"/>
            <a:chOff x="2911177" y="1292800"/>
            <a:chExt cx="5103110" cy="5081762"/>
          </a:xfrm>
        </p:grpSpPr>
        <p:sp>
          <p:nvSpPr>
            <p:cNvPr id="19" name="Rectangle 18">
              <a:extLst>
                <a:ext uri="{FF2B5EF4-FFF2-40B4-BE49-F238E27FC236}">
                  <a16:creationId xmlns:a16="http://schemas.microsoft.com/office/drawing/2014/main" id="{ED7797AD-8979-3D0F-292F-838DEC8B34BD}"/>
                </a:ext>
              </a:extLst>
            </p:cNvPr>
            <p:cNvSpPr/>
            <p:nvPr/>
          </p:nvSpPr>
          <p:spPr>
            <a:xfrm>
              <a:off x="4193693" y="1782301"/>
              <a:ext cx="1330560" cy="443018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0" name="Group 19">
              <a:extLst>
                <a:ext uri="{FF2B5EF4-FFF2-40B4-BE49-F238E27FC236}">
                  <a16:creationId xmlns:a16="http://schemas.microsoft.com/office/drawing/2014/main" id="{15453942-3B62-5D6A-2AF2-A51ACA1D2A66}"/>
                </a:ext>
              </a:extLst>
            </p:cNvPr>
            <p:cNvGrpSpPr/>
            <p:nvPr/>
          </p:nvGrpSpPr>
          <p:grpSpPr>
            <a:xfrm>
              <a:off x="2911177" y="1292800"/>
              <a:ext cx="5103110" cy="5081762"/>
              <a:chOff x="2911177" y="1292800"/>
              <a:chExt cx="5103110" cy="5081762"/>
            </a:xfrm>
          </p:grpSpPr>
          <p:sp>
            <p:nvSpPr>
              <p:cNvPr id="21" name="Rectangle 64">
                <a:extLst>
                  <a:ext uri="{FF2B5EF4-FFF2-40B4-BE49-F238E27FC236}">
                    <a16:creationId xmlns:a16="http://schemas.microsoft.com/office/drawing/2014/main" id="{1EF571F5-D9C1-A9F6-472D-BAFAE520621B}"/>
                  </a:ext>
                </a:extLst>
              </p:cNvPr>
              <p:cNvSpPr/>
              <p:nvPr/>
            </p:nvSpPr>
            <p:spPr>
              <a:xfrm>
                <a:off x="3034221" y="1303090"/>
                <a:ext cx="4978731" cy="38704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sp>
            <p:nvSpPr>
              <p:cNvPr id="25" name="Oval 24">
                <a:extLst>
                  <a:ext uri="{FF2B5EF4-FFF2-40B4-BE49-F238E27FC236}">
                    <a16:creationId xmlns:a16="http://schemas.microsoft.com/office/drawing/2014/main" id="{EFD5D747-8721-69DC-D4DC-3C3D232B96BF}"/>
                  </a:ext>
                </a:extLst>
              </p:cNvPr>
              <p:cNvSpPr/>
              <p:nvPr/>
            </p:nvSpPr>
            <p:spPr>
              <a:xfrm>
                <a:off x="2911177" y="1292800"/>
                <a:ext cx="191716" cy="387042"/>
              </a:xfrm>
              <a:prstGeom prst="ellipse">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657EF2AF-1785-07CC-AA4F-82945157BD08}"/>
                  </a:ext>
                </a:extLst>
              </p:cNvPr>
              <p:cNvSpPr/>
              <p:nvPr/>
            </p:nvSpPr>
            <p:spPr>
              <a:xfrm>
                <a:off x="3035557" y="1639624"/>
                <a:ext cx="4978730" cy="4734938"/>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2" name="Rectangle 1">
            <a:extLst>
              <a:ext uri="{FF2B5EF4-FFF2-40B4-BE49-F238E27FC236}">
                <a16:creationId xmlns:a16="http://schemas.microsoft.com/office/drawing/2014/main" id="{0D85ADF0-CAC7-7FA9-4BFB-F8B9231D0CB6}"/>
              </a:ext>
            </a:extLst>
          </p:cNvPr>
          <p:cNvSpPr/>
          <p:nvPr/>
        </p:nvSpPr>
        <p:spPr>
          <a:xfrm>
            <a:off x="564574" y="1254138"/>
            <a:ext cx="2344881" cy="498854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F1C9D42-551F-2AD2-80D3-5989506CBC1E}"/>
              </a:ext>
            </a:extLst>
          </p:cNvPr>
          <p:cNvSpPr/>
          <p:nvPr/>
        </p:nvSpPr>
        <p:spPr>
          <a:xfrm>
            <a:off x="6230893" y="1280968"/>
            <a:ext cx="5396534" cy="496171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0809063C-EE0D-C77C-0512-E4A80BBF3C0A}"/>
              </a:ext>
            </a:extLst>
          </p:cNvPr>
          <p:cNvSpPr txBox="1"/>
          <p:nvPr/>
        </p:nvSpPr>
        <p:spPr>
          <a:xfrm>
            <a:off x="3044350" y="1371394"/>
            <a:ext cx="2450184" cy="323165"/>
          </a:xfrm>
          <a:prstGeom prst="rect">
            <a:avLst/>
          </a:prstGeom>
          <a:noFill/>
        </p:spPr>
        <p:txBody>
          <a:bodyPr wrap="square">
            <a:spAutoFit/>
          </a:bodyPr>
          <a:lstStyle/>
          <a:p>
            <a:pPr>
              <a:buNone/>
            </a:pPr>
            <a:r>
              <a:rPr lang="en-IN" sz="1500" b="1" dirty="0"/>
              <a:t>Preprocessing</a:t>
            </a:r>
            <a:endParaRPr lang="en-IN" sz="1000" dirty="0"/>
          </a:p>
        </p:txBody>
      </p:sp>
      <p:pic>
        <p:nvPicPr>
          <p:cNvPr id="4" name="Picture 3">
            <a:extLst>
              <a:ext uri="{FF2B5EF4-FFF2-40B4-BE49-F238E27FC236}">
                <a16:creationId xmlns:a16="http://schemas.microsoft.com/office/drawing/2014/main" id="{58C8DBDB-727B-A1A2-FA49-03CD1C4D29BB}"/>
              </a:ext>
            </a:extLst>
          </p:cNvPr>
          <p:cNvPicPr>
            <a:picLocks noChangeAspect="1"/>
          </p:cNvPicPr>
          <p:nvPr/>
        </p:nvPicPr>
        <p:blipFill>
          <a:blip r:embed="rId2"/>
          <a:stretch>
            <a:fillRect/>
          </a:stretch>
        </p:blipFill>
        <p:spPr>
          <a:xfrm>
            <a:off x="484428" y="10835"/>
            <a:ext cx="11155332" cy="657317"/>
          </a:xfrm>
          <a:prstGeom prst="rect">
            <a:avLst/>
          </a:prstGeom>
        </p:spPr>
      </p:pic>
      <p:sp>
        <p:nvSpPr>
          <p:cNvPr id="3" name="Rectangle 1">
            <a:extLst>
              <a:ext uri="{FF2B5EF4-FFF2-40B4-BE49-F238E27FC236}">
                <a16:creationId xmlns:a16="http://schemas.microsoft.com/office/drawing/2014/main" id="{27836CB6-1090-5953-074E-EA6B5843392C}"/>
              </a:ext>
            </a:extLst>
          </p:cNvPr>
          <p:cNvSpPr>
            <a:spLocks noChangeArrowheads="1"/>
          </p:cNvSpPr>
          <p:nvPr/>
        </p:nvSpPr>
        <p:spPr bwMode="auto">
          <a:xfrm>
            <a:off x="565960" y="1581772"/>
            <a:ext cx="217226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used in this project is the HMIS (Health Management Information System) dataset, which records state-wise monthly healthcare service usage across India.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contains healthcare indicators related to patient attendance, laboratory tests, maternal health services, emergency care, and inpatient occupancy.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selected 10 major Indian states for focused comparative analysis: Kerala, Tamil Nadu, Maharashtra, Gujarat, Karnataka, Rajasthan, Uttar Pradesh, Madhya Pradesh, Bihar, West Bengal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includes multiple monthly entries, allowing trend analysis over time.</a:t>
            </a:r>
          </a:p>
        </p:txBody>
      </p:sp>
      <p:sp>
        <p:nvSpPr>
          <p:cNvPr id="10" name="TextBox 9">
            <a:extLst>
              <a:ext uri="{FF2B5EF4-FFF2-40B4-BE49-F238E27FC236}">
                <a16:creationId xmlns:a16="http://schemas.microsoft.com/office/drawing/2014/main" id="{931AE06F-35F9-0781-796D-E662EAA33FA7}"/>
              </a:ext>
            </a:extLst>
          </p:cNvPr>
          <p:cNvSpPr txBox="1"/>
          <p:nvPr/>
        </p:nvSpPr>
        <p:spPr>
          <a:xfrm>
            <a:off x="600898" y="1365112"/>
            <a:ext cx="2075584" cy="307777"/>
          </a:xfrm>
          <a:prstGeom prst="rect">
            <a:avLst/>
          </a:prstGeom>
          <a:noFill/>
        </p:spPr>
        <p:txBody>
          <a:bodyPr wrap="square">
            <a:spAutoFit/>
          </a:bodyPr>
          <a:lstStyle/>
          <a:p>
            <a:pPr>
              <a:buNone/>
            </a:pPr>
            <a:r>
              <a:rPr lang="en-IN" sz="1400" b="1" dirty="0"/>
              <a:t>About the Dataset</a:t>
            </a:r>
          </a:p>
        </p:txBody>
      </p:sp>
      <p:pic>
        <p:nvPicPr>
          <p:cNvPr id="13" name="Picture 12">
            <a:extLst>
              <a:ext uri="{FF2B5EF4-FFF2-40B4-BE49-F238E27FC236}">
                <a16:creationId xmlns:a16="http://schemas.microsoft.com/office/drawing/2014/main" id="{B0C0B31F-4D80-8837-938D-E009DE7B3119}"/>
              </a:ext>
            </a:extLst>
          </p:cNvPr>
          <p:cNvPicPr>
            <a:picLocks noChangeAspect="1"/>
          </p:cNvPicPr>
          <p:nvPr/>
        </p:nvPicPr>
        <p:blipFill>
          <a:blip r:embed="rId3"/>
          <a:stretch>
            <a:fillRect/>
          </a:stretch>
        </p:blipFill>
        <p:spPr>
          <a:xfrm>
            <a:off x="6455921" y="1351729"/>
            <a:ext cx="4941131" cy="2881469"/>
          </a:xfrm>
          <a:prstGeom prst="rect">
            <a:avLst/>
          </a:prstGeom>
        </p:spPr>
      </p:pic>
      <p:pic>
        <p:nvPicPr>
          <p:cNvPr id="14" name="Picture 13">
            <a:extLst>
              <a:ext uri="{FF2B5EF4-FFF2-40B4-BE49-F238E27FC236}">
                <a16:creationId xmlns:a16="http://schemas.microsoft.com/office/drawing/2014/main" id="{66E6660C-5020-FCBC-A3B3-52D589544A22}"/>
              </a:ext>
            </a:extLst>
          </p:cNvPr>
          <p:cNvPicPr>
            <a:picLocks noChangeAspect="1"/>
          </p:cNvPicPr>
          <p:nvPr/>
        </p:nvPicPr>
        <p:blipFill>
          <a:blip r:embed="rId4"/>
          <a:stretch>
            <a:fillRect/>
          </a:stretch>
        </p:blipFill>
        <p:spPr>
          <a:xfrm>
            <a:off x="6325329" y="4156364"/>
            <a:ext cx="5226163" cy="2030753"/>
          </a:xfrm>
          <a:prstGeom prst="rect">
            <a:avLst/>
          </a:prstGeom>
        </p:spPr>
      </p:pic>
      <p:sp>
        <p:nvSpPr>
          <p:cNvPr id="15" name="Rectangle 2">
            <a:extLst>
              <a:ext uri="{FF2B5EF4-FFF2-40B4-BE49-F238E27FC236}">
                <a16:creationId xmlns:a16="http://schemas.microsoft.com/office/drawing/2014/main" id="{9F341048-D112-4B6E-A1D5-7506C4DD8FA0}"/>
              </a:ext>
            </a:extLst>
          </p:cNvPr>
          <p:cNvSpPr>
            <a:spLocks noChangeArrowheads="1"/>
          </p:cNvSpPr>
          <p:nvPr/>
        </p:nvSpPr>
        <p:spPr bwMode="auto">
          <a:xfrm>
            <a:off x="2968597" y="1663592"/>
            <a:ext cx="318636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Imported and loaded dataset from HMIS portal .csv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Selected 10 major Indian states for focused comparative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Trimmed and standardized column names to ensure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rows with missing values in key health indicators and target variable.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and removed duplicate entries to avoid repeated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Validated data types ensured numeric features were correctly parsed as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“Month” column into datetime and created </a:t>
            </a:r>
            <a:r>
              <a:rPr kumimoji="0" lang="en-US" altLang="en-US" sz="1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YearMonth</a:t>
            </a: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time-series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Grouped data state-wise and month-wise to obtain aggregated healthcare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Performed exploratory checks for data sanity (no negative counts, unrealistic spikes investigated).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Scaled features using StandardScaler to maintain fair weighting during clustering and ML.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Saved the cleaned dataset as HMIS_Cleaned_Final.csv for reproducibility.</a:t>
            </a:r>
          </a:p>
        </p:txBody>
      </p:sp>
    </p:spTree>
    <p:extLst>
      <p:ext uri="{BB962C8B-B14F-4D97-AF65-F5344CB8AC3E}">
        <p14:creationId xmlns:p14="http://schemas.microsoft.com/office/powerpoint/2010/main" val="1707756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A40D-56C7-4E51-1B35-B2BF11A84BDE}"/>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486D9596-68BA-2BD1-E82D-A82112154629}"/>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BBB3D867-11C6-4A4D-A7F3-6F90276E3BC1}"/>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C5A1EF93-05F1-55F4-6D11-397075ABDF1F}"/>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4F7227F4-0172-9AAC-BE54-671402C77580}"/>
              </a:ext>
            </a:extLst>
          </p:cNvPr>
          <p:cNvSpPr/>
          <p:nvPr/>
        </p:nvSpPr>
        <p:spPr>
          <a:xfrm>
            <a:off x="3965263" y="857070"/>
            <a:ext cx="7906717"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AAD4E5EA-9461-702F-472D-64B64E0203CA}"/>
              </a:ext>
            </a:extLst>
          </p:cNvPr>
          <p:cNvSpPr txBox="1"/>
          <p:nvPr/>
        </p:nvSpPr>
        <p:spPr>
          <a:xfrm>
            <a:off x="-1275484" y="910865"/>
            <a:ext cx="6094268" cy="369332"/>
          </a:xfrm>
          <a:prstGeom prst="rect">
            <a:avLst/>
          </a:prstGeom>
          <a:noFill/>
        </p:spPr>
        <p:txBody>
          <a:bodyPr wrap="square">
            <a:spAutoFit/>
          </a:bodyPr>
          <a:lstStyle/>
          <a:p>
            <a:pPr algn="ctr"/>
            <a:r>
              <a:rPr lang="en-IN" sz="1800" b="1" dirty="0">
                <a:latin typeface="Arial" panose="020B0604020202020204" pitchFamily="34" charset="0"/>
                <a:cs typeface="Arial" panose="020B0604020202020204" pitchFamily="34" charset="0"/>
              </a:rPr>
              <a:t>EDA</a:t>
            </a:r>
          </a:p>
        </p:txBody>
      </p:sp>
      <p:pic>
        <p:nvPicPr>
          <p:cNvPr id="5" name="Picture 4">
            <a:extLst>
              <a:ext uri="{FF2B5EF4-FFF2-40B4-BE49-F238E27FC236}">
                <a16:creationId xmlns:a16="http://schemas.microsoft.com/office/drawing/2014/main" id="{336F424B-33B9-1F19-5175-DDB882DD943E}"/>
              </a:ext>
            </a:extLst>
          </p:cNvPr>
          <p:cNvPicPr>
            <a:picLocks noChangeAspect="1"/>
          </p:cNvPicPr>
          <p:nvPr/>
        </p:nvPicPr>
        <p:blipFill>
          <a:blip r:embed="rId2"/>
          <a:stretch>
            <a:fillRect/>
          </a:stretch>
        </p:blipFill>
        <p:spPr>
          <a:xfrm>
            <a:off x="226142" y="54066"/>
            <a:ext cx="11155332" cy="657317"/>
          </a:xfrm>
          <a:prstGeom prst="rect">
            <a:avLst/>
          </a:prstGeom>
        </p:spPr>
      </p:pic>
      <p:sp>
        <p:nvSpPr>
          <p:cNvPr id="9" name="TextBox 8">
            <a:extLst>
              <a:ext uri="{FF2B5EF4-FFF2-40B4-BE49-F238E27FC236}">
                <a16:creationId xmlns:a16="http://schemas.microsoft.com/office/drawing/2014/main" id="{A614E1F4-4AB0-7E9B-168B-2769C491C500}"/>
              </a:ext>
            </a:extLst>
          </p:cNvPr>
          <p:cNvSpPr txBox="1"/>
          <p:nvPr/>
        </p:nvSpPr>
        <p:spPr>
          <a:xfrm>
            <a:off x="313527" y="1387445"/>
            <a:ext cx="3296016" cy="4339650"/>
          </a:xfrm>
          <a:prstGeom prst="rect">
            <a:avLst/>
          </a:prstGeom>
          <a:noFill/>
        </p:spPr>
        <p:txBody>
          <a:bodyPr wrap="square">
            <a:spAutoFit/>
          </a:bodyPr>
          <a:lstStyle/>
          <a:p>
            <a:pPr algn="just">
              <a:buNone/>
            </a:pPr>
            <a:r>
              <a:rPr lang="en-US" sz="1200" b="1" dirty="0">
                <a:latin typeface="Times New Roman" panose="02020603050405020304" pitchFamily="18" charset="0"/>
                <a:cs typeface="Times New Roman" panose="02020603050405020304" pitchFamily="18" charset="0"/>
              </a:rPr>
              <a:t>1) State-Wise Healthcare Service Utilization Patterns</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Southern states like Delhi, Kerala and  Karnataka consistently showed higher healthcare service utilization across most indicators.</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States like Arunachal Pradesh, Manipur showed lower utilization and higher month-to-month fluctuations, indicating limited accessibility and irregular healthcare service reach.</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Maharashtra and Madhya Pradesh showed stable and moderate service usage, reflecting balanced health system performance.</a:t>
            </a:r>
          </a:p>
          <a:p>
            <a:pPr algn="just"/>
            <a:endParaRPr lang="en-US" sz="1200" dirty="0">
              <a:latin typeface="Times New Roman" panose="02020603050405020304" pitchFamily="18" charset="0"/>
              <a:cs typeface="Times New Roman" panose="02020603050405020304" pitchFamily="18" charset="0"/>
            </a:endParaRPr>
          </a:p>
          <a:p>
            <a:pPr algn="just">
              <a:buNone/>
            </a:pPr>
            <a:r>
              <a:rPr lang="en-US" sz="1200" b="1" dirty="0">
                <a:latin typeface="Times New Roman" panose="02020603050405020304" pitchFamily="18" charset="0"/>
                <a:cs typeface="Times New Roman" panose="02020603050405020304" pitchFamily="18" charset="0"/>
              </a:rPr>
              <a:t>2) Patient Flow &amp; Demand Trends</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OPD Attendance and Lab Tests showed a strong upward trend in urban or better-developed states.</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In-Patient Head Count increased when Emergency Department visits increased, showing direct dependency between emergency inflow and hospital occupancy.</a:t>
            </a:r>
          </a:p>
          <a:p>
            <a:pPr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Seasonal variations were noticed some months showed higher patient load, indicating possible disease seasonality / rural health drives</a:t>
            </a:r>
            <a:r>
              <a:rPr lang="en-US" sz="1100" dirty="0">
                <a:latin typeface="Times New Roman" panose="02020603050405020304" pitchFamily="18" charset="0"/>
                <a:cs typeface="Times New Roman" panose="02020603050405020304" pitchFamily="18" charset="0"/>
              </a:rPr>
              <a:t>.</a:t>
            </a:r>
          </a:p>
        </p:txBody>
      </p:sp>
      <p:pic>
        <p:nvPicPr>
          <p:cNvPr id="11" name="Picture 10">
            <a:extLst>
              <a:ext uri="{FF2B5EF4-FFF2-40B4-BE49-F238E27FC236}">
                <a16:creationId xmlns:a16="http://schemas.microsoft.com/office/drawing/2014/main" id="{24DA8DF7-CD79-12DD-8E31-90FE102AC85F}"/>
              </a:ext>
            </a:extLst>
          </p:cNvPr>
          <p:cNvPicPr>
            <a:picLocks noChangeAspect="1"/>
          </p:cNvPicPr>
          <p:nvPr/>
        </p:nvPicPr>
        <p:blipFill>
          <a:blip r:embed="rId3"/>
          <a:stretch>
            <a:fillRect/>
          </a:stretch>
        </p:blipFill>
        <p:spPr>
          <a:xfrm>
            <a:off x="4034397" y="988438"/>
            <a:ext cx="3970674" cy="2943280"/>
          </a:xfrm>
          <a:prstGeom prst="rect">
            <a:avLst/>
          </a:prstGeom>
        </p:spPr>
      </p:pic>
      <p:pic>
        <p:nvPicPr>
          <p:cNvPr id="13" name="Picture 12">
            <a:extLst>
              <a:ext uri="{FF2B5EF4-FFF2-40B4-BE49-F238E27FC236}">
                <a16:creationId xmlns:a16="http://schemas.microsoft.com/office/drawing/2014/main" id="{FBDF122E-D71C-773F-5E45-E323011207E1}"/>
              </a:ext>
            </a:extLst>
          </p:cNvPr>
          <p:cNvPicPr>
            <a:picLocks noChangeAspect="1"/>
          </p:cNvPicPr>
          <p:nvPr/>
        </p:nvPicPr>
        <p:blipFill>
          <a:blip r:embed="rId4"/>
          <a:stretch>
            <a:fillRect/>
          </a:stretch>
        </p:blipFill>
        <p:spPr>
          <a:xfrm>
            <a:off x="7956819" y="1088490"/>
            <a:ext cx="3722916" cy="2447010"/>
          </a:xfrm>
          <a:prstGeom prst="rect">
            <a:avLst/>
          </a:prstGeom>
        </p:spPr>
      </p:pic>
      <p:pic>
        <p:nvPicPr>
          <p:cNvPr id="15" name="Picture 14">
            <a:extLst>
              <a:ext uri="{FF2B5EF4-FFF2-40B4-BE49-F238E27FC236}">
                <a16:creationId xmlns:a16="http://schemas.microsoft.com/office/drawing/2014/main" id="{03536F9A-D600-78B1-1A41-B84F7C93DCF6}"/>
              </a:ext>
            </a:extLst>
          </p:cNvPr>
          <p:cNvPicPr>
            <a:picLocks noChangeAspect="1"/>
          </p:cNvPicPr>
          <p:nvPr/>
        </p:nvPicPr>
        <p:blipFill>
          <a:blip r:embed="rId5"/>
          <a:stretch>
            <a:fillRect/>
          </a:stretch>
        </p:blipFill>
        <p:spPr>
          <a:xfrm>
            <a:off x="7956819" y="3812554"/>
            <a:ext cx="3845392" cy="2609352"/>
          </a:xfrm>
          <a:prstGeom prst="rect">
            <a:avLst/>
          </a:prstGeom>
        </p:spPr>
      </p:pic>
      <p:pic>
        <p:nvPicPr>
          <p:cNvPr id="16" name="Picture 15">
            <a:extLst>
              <a:ext uri="{FF2B5EF4-FFF2-40B4-BE49-F238E27FC236}">
                <a16:creationId xmlns:a16="http://schemas.microsoft.com/office/drawing/2014/main" id="{90D0C2DF-2DD7-39FC-BE3C-7EE2C4A05649}"/>
              </a:ext>
            </a:extLst>
          </p:cNvPr>
          <p:cNvPicPr>
            <a:picLocks noChangeAspect="1"/>
          </p:cNvPicPr>
          <p:nvPr/>
        </p:nvPicPr>
        <p:blipFill>
          <a:blip r:embed="rId6"/>
          <a:stretch>
            <a:fillRect/>
          </a:stretch>
        </p:blipFill>
        <p:spPr>
          <a:xfrm>
            <a:off x="3986145" y="4077405"/>
            <a:ext cx="3970674" cy="2451749"/>
          </a:xfrm>
          <a:prstGeom prst="rect">
            <a:avLst/>
          </a:prstGeom>
        </p:spPr>
      </p:pic>
    </p:spTree>
    <p:extLst>
      <p:ext uri="{BB962C8B-B14F-4D97-AF65-F5344CB8AC3E}">
        <p14:creationId xmlns:p14="http://schemas.microsoft.com/office/powerpoint/2010/main" val="339371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57E89-04C2-7A35-8D30-D73E75328363}"/>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4550B9C3-651B-4FEC-5A05-DBC696EED023}"/>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290B38D8-93AB-FCDC-8C6C-ABEFF4FF4D39}"/>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D8FA8348-73E1-6571-C63B-7370EDDDD881}"/>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3FBF0C3-D69F-A88D-BD45-6C2F0C1FE834}"/>
              </a:ext>
            </a:extLst>
          </p:cNvPr>
          <p:cNvSpPr/>
          <p:nvPr/>
        </p:nvSpPr>
        <p:spPr>
          <a:xfrm>
            <a:off x="3965263" y="857070"/>
            <a:ext cx="7906717"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CB5CA3C2-3236-ED0A-3889-DF93DF9147E8}"/>
              </a:ext>
            </a:extLst>
          </p:cNvPr>
          <p:cNvSpPr txBox="1"/>
          <p:nvPr/>
        </p:nvSpPr>
        <p:spPr>
          <a:xfrm>
            <a:off x="-1275484" y="910865"/>
            <a:ext cx="6094268" cy="369332"/>
          </a:xfrm>
          <a:prstGeom prst="rect">
            <a:avLst/>
          </a:prstGeom>
          <a:noFill/>
        </p:spPr>
        <p:txBody>
          <a:bodyPr wrap="square">
            <a:spAutoFit/>
          </a:bodyPr>
          <a:lstStyle/>
          <a:p>
            <a:pPr algn="ctr"/>
            <a:r>
              <a:rPr lang="en-IN" sz="1800" b="1" dirty="0">
                <a:latin typeface="Arial" panose="020B0604020202020204" pitchFamily="34" charset="0"/>
                <a:cs typeface="Arial" panose="020B0604020202020204" pitchFamily="34" charset="0"/>
              </a:rPr>
              <a:t>EDA</a:t>
            </a:r>
          </a:p>
        </p:txBody>
      </p:sp>
      <p:pic>
        <p:nvPicPr>
          <p:cNvPr id="5" name="Picture 4">
            <a:extLst>
              <a:ext uri="{FF2B5EF4-FFF2-40B4-BE49-F238E27FC236}">
                <a16:creationId xmlns:a16="http://schemas.microsoft.com/office/drawing/2014/main" id="{062A69AD-99B1-073D-52C2-5AFEFDF1412E}"/>
              </a:ext>
            </a:extLst>
          </p:cNvPr>
          <p:cNvPicPr>
            <a:picLocks noChangeAspect="1"/>
          </p:cNvPicPr>
          <p:nvPr/>
        </p:nvPicPr>
        <p:blipFill>
          <a:blip r:embed="rId2"/>
          <a:stretch>
            <a:fillRect/>
          </a:stretch>
        </p:blipFill>
        <p:spPr>
          <a:xfrm>
            <a:off x="226142" y="54066"/>
            <a:ext cx="11155332" cy="657317"/>
          </a:xfrm>
          <a:prstGeom prst="rect">
            <a:avLst/>
          </a:prstGeom>
        </p:spPr>
      </p:pic>
      <p:sp>
        <p:nvSpPr>
          <p:cNvPr id="9" name="TextBox 8">
            <a:extLst>
              <a:ext uri="{FF2B5EF4-FFF2-40B4-BE49-F238E27FC236}">
                <a16:creationId xmlns:a16="http://schemas.microsoft.com/office/drawing/2014/main" id="{44368A18-C77C-40D8-C2F1-925DB5FF8BDB}"/>
              </a:ext>
            </a:extLst>
          </p:cNvPr>
          <p:cNvSpPr txBox="1"/>
          <p:nvPr/>
        </p:nvSpPr>
        <p:spPr>
          <a:xfrm>
            <a:off x="313527" y="1387445"/>
            <a:ext cx="3296016" cy="5093702"/>
          </a:xfrm>
          <a:prstGeom prst="rect">
            <a:avLst/>
          </a:prstGeom>
          <a:noFill/>
        </p:spPr>
        <p:txBody>
          <a:bodyPr wrap="square">
            <a:spAutoFit/>
          </a:bodyPr>
          <a:lstStyle/>
          <a:p>
            <a:pPr algn="just"/>
            <a:r>
              <a:rPr lang="en-US" sz="1300" b="1" dirty="0"/>
              <a:t>3) Feature Relationships (Correlation Findings)</a:t>
            </a:r>
          </a:p>
          <a:p>
            <a:pPr marL="285750" indent="-285750" algn="just">
              <a:buFont typeface="Arial" panose="020B0604020202020204" pitchFamily="34" charset="0"/>
              <a:buChar char="•"/>
            </a:pPr>
            <a:r>
              <a:rPr lang="en-US" sz="1300" dirty="0"/>
              <a:t>Patients Registered at Emergency + OPD Attendance + Lab Tests were highly correlated with In-Patient Head Count.</a:t>
            </a:r>
          </a:p>
          <a:p>
            <a:pPr marL="285750" indent="-285750" algn="just">
              <a:buFont typeface="Arial" panose="020B0604020202020204" pitchFamily="34" charset="0"/>
              <a:buChar char="•"/>
            </a:pPr>
            <a:r>
              <a:rPr lang="en-US" sz="1300" dirty="0"/>
              <a:t>Condom Distribution had low correlation with hospital occupancy but showed strong public health outreach differences between states.</a:t>
            </a:r>
          </a:p>
          <a:p>
            <a:pPr marL="285750" indent="-285750" algn="just">
              <a:buFont typeface="Arial" panose="020B0604020202020204" pitchFamily="34" charset="0"/>
              <a:buChar char="•"/>
            </a:pPr>
            <a:r>
              <a:rPr lang="en-US" sz="1300" dirty="0"/>
              <a:t>Strong positive correlation → more outpatient &amp; lab workload leads to more inpatient admissions.</a:t>
            </a:r>
          </a:p>
          <a:p>
            <a:pPr algn="just"/>
            <a:endParaRPr lang="en-US" sz="1300" dirty="0"/>
          </a:p>
          <a:p>
            <a:pPr algn="just"/>
            <a:r>
              <a:rPr lang="en-US" sz="1300" b="1" dirty="0"/>
              <a:t>4) Variability &amp; Inequality in Healthcare Reach</a:t>
            </a:r>
          </a:p>
          <a:p>
            <a:pPr algn="just"/>
            <a:r>
              <a:rPr lang="en-US" sz="1300" dirty="0"/>
              <a:t>High variation between states suggests healthcare infrastructure inequality.</a:t>
            </a:r>
          </a:p>
          <a:p>
            <a:pPr algn="just"/>
            <a:r>
              <a:rPr lang="en-US" sz="1300" dirty="0"/>
              <a:t>For the same population scale:</a:t>
            </a:r>
          </a:p>
          <a:p>
            <a:pPr marL="742950" lvl="1" indent="-285750" algn="just">
              <a:buFont typeface="Arial" panose="020B0604020202020204" pitchFamily="34" charset="0"/>
              <a:buChar char="•"/>
            </a:pPr>
            <a:r>
              <a:rPr lang="en-US" sz="1300" dirty="0"/>
              <a:t>Kerala uses health services more frequently, possibly due to better awareness &amp; access.</a:t>
            </a:r>
          </a:p>
          <a:p>
            <a:pPr marL="742950" lvl="1" indent="-285750" algn="just">
              <a:buFont typeface="Arial" panose="020B0604020202020204" pitchFamily="34" charset="0"/>
              <a:buChar char="•"/>
            </a:pPr>
            <a:r>
              <a:rPr lang="en-US" sz="1300" dirty="0"/>
              <a:t>Bihar and UP show lower values, indicating resource limitations and accessibility gaps.</a:t>
            </a:r>
          </a:p>
        </p:txBody>
      </p:sp>
      <p:pic>
        <p:nvPicPr>
          <p:cNvPr id="2" name="Picture 1">
            <a:extLst>
              <a:ext uri="{FF2B5EF4-FFF2-40B4-BE49-F238E27FC236}">
                <a16:creationId xmlns:a16="http://schemas.microsoft.com/office/drawing/2014/main" id="{4966A07B-575F-2A5C-F951-C66C61217117}"/>
              </a:ext>
            </a:extLst>
          </p:cNvPr>
          <p:cNvPicPr>
            <a:picLocks noChangeAspect="1"/>
          </p:cNvPicPr>
          <p:nvPr/>
        </p:nvPicPr>
        <p:blipFill>
          <a:blip r:embed="rId3"/>
          <a:stretch>
            <a:fillRect/>
          </a:stretch>
        </p:blipFill>
        <p:spPr>
          <a:xfrm>
            <a:off x="4174303" y="974407"/>
            <a:ext cx="6902406" cy="2974138"/>
          </a:xfrm>
          <a:prstGeom prst="rect">
            <a:avLst/>
          </a:prstGeom>
        </p:spPr>
      </p:pic>
      <p:pic>
        <p:nvPicPr>
          <p:cNvPr id="3" name="Picture 2">
            <a:extLst>
              <a:ext uri="{FF2B5EF4-FFF2-40B4-BE49-F238E27FC236}">
                <a16:creationId xmlns:a16="http://schemas.microsoft.com/office/drawing/2014/main" id="{FD5DFC5B-111C-9E23-ECBE-A8AEB14CE9F0}"/>
              </a:ext>
            </a:extLst>
          </p:cNvPr>
          <p:cNvPicPr>
            <a:picLocks noChangeAspect="1"/>
          </p:cNvPicPr>
          <p:nvPr/>
        </p:nvPicPr>
        <p:blipFill>
          <a:blip r:embed="rId4"/>
          <a:stretch>
            <a:fillRect/>
          </a:stretch>
        </p:blipFill>
        <p:spPr>
          <a:xfrm>
            <a:off x="4038647" y="4012088"/>
            <a:ext cx="2632317" cy="2506034"/>
          </a:xfrm>
          <a:prstGeom prst="rect">
            <a:avLst/>
          </a:prstGeom>
        </p:spPr>
      </p:pic>
      <p:pic>
        <p:nvPicPr>
          <p:cNvPr id="10" name="Picture 9">
            <a:extLst>
              <a:ext uri="{FF2B5EF4-FFF2-40B4-BE49-F238E27FC236}">
                <a16:creationId xmlns:a16="http://schemas.microsoft.com/office/drawing/2014/main" id="{DBD410C2-9724-131E-DCED-091617F9724D}"/>
              </a:ext>
            </a:extLst>
          </p:cNvPr>
          <p:cNvPicPr>
            <a:picLocks noChangeAspect="1"/>
          </p:cNvPicPr>
          <p:nvPr/>
        </p:nvPicPr>
        <p:blipFill>
          <a:blip r:embed="rId5"/>
          <a:stretch>
            <a:fillRect/>
          </a:stretch>
        </p:blipFill>
        <p:spPr>
          <a:xfrm>
            <a:off x="6670964" y="3899803"/>
            <a:ext cx="5098899" cy="1983790"/>
          </a:xfrm>
          <a:prstGeom prst="rect">
            <a:avLst/>
          </a:prstGeom>
        </p:spPr>
      </p:pic>
      <p:sp>
        <p:nvSpPr>
          <p:cNvPr id="12" name="TextBox 11">
            <a:extLst>
              <a:ext uri="{FF2B5EF4-FFF2-40B4-BE49-F238E27FC236}">
                <a16:creationId xmlns:a16="http://schemas.microsoft.com/office/drawing/2014/main" id="{869B1127-0E3C-E5C8-C0C8-A4B8C118B879}"/>
              </a:ext>
            </a:extLst>
          </p:cNvPr>
          <p:cNvSpPr txBox="1"/>
          <p:nvPr/>
        </p:nvSpPr>
        <p:spPr>
          <a:xfrm>
            <a:off x="6806045" y="5883593"/>
            <a:ext cx="4963818" cy="492443"/>
          </a:xfrm>
          <a:prstGeom prst="rect">
            <a:avLst/>
          </a:prstGeom>
          <a:noFill/>
        </p:spPr>
        <p:txBody>
          <a:bodyPr wrap="square" rtlCol="0">
            <a:spAutoFit/>
          </a:bodyPr>
          <a:lstStyle/>
          <a:p>
            <a:pPr marL="285750" indent="-285750">
              <a:buFont typeface="Arial" panose="020B0604020202020204" pitchFamily="34" charset="0"/>
              <a:buChar char="•"/>
            </a:pPr>
            <a:r>
              <a:rPr lang="en-IN" sz="1300" dirty="0"/>
              <a:t>Gender distribution does not affect the </a:t>
            </a:r>
            <a:r>
              <a:rPr lang="en-IN" sz="1300" dirty="0" err="1"/>
              <a:t>the</a:t>
            </a:r>
            <a:r>
              <a:rPr lang="en-IN" sz="1300" dirty="0"/>
              <a:t> health index</a:t>
            </a:r>
          </a:p>
          <a:p>
            <a:pPr marL="285750" indent="-285750">
              <a:buFont typeface="Arial" panose="020B0604020202020204" pitchFamily="34" charset="0"/>
              <a:buChar char="•"/>
            </a:pPr>
            <a:r>
              <a:rPr lang="en-IN" sz="1300" dirty="0"/>
              <a:t>ODP visits is highly correlated with Lab tests done</a:t>
            </a:r>
          </a:p>
        </p:txBody>
      </p:sp>
    </p:spTree>
    <p:extLst>
      <p:ext uri="{BB962C8B-B14F-4D97-AF65-F5344CB8AC3E}">
        <p14:creationId xmlns:p14="http://schemas.microsoft.com/office/powerpoint/2010/main" val="125615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54E33-2446-3893-F515-A49E5FD696B5}"/>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D0671CCB-9287-B520-FD6F-8E235933E903}"/>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2F4C9E69-9BF0-6FCC-20DE-629C32F3CDCB}"/>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B702EE48-1FFA-8B22-53B3-885B6A8ACB92}"/>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F1CF4F50-8D95-11F3-B7AB-9746E1C68ADF}"/>
              </a:ext>
            </a:extLst>
          </p:cNvPr>
          <p:cNvSpPr/>
          <p:nvPr/>
        </p:nvSpPr>
        <p:spPr>
          <a:xfrm>
            <a:off x="3965263" y="857070"/>
            <a:ext cx="7906717"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6EE43945-5EA4-9E32-D54C-6E7F1274B176}"/>
              </a:ext>
            </a:extLst>
          </p:cNvPr>
          <p:cNvSpPr txBox="1"/>
          <p:nvPr/>
        </p:nvSpPr>
        <p:spPr>
          <a:xfrm>
            <a:off x="-1275484" y="910865"/>
            <a:ext cx="6094268" cy="338554"/>
          </a:xfrm>
          <a:prstGeom prst="rect">
            <a:avLst/>
          </a:prstGeom>
          <a:noFill/>
        </p:spPr>
        <p:txBody>
          <a:bodyPr wrap="square">
            <a:spAutoFit/>
          </a:bodyPr>
          <a:lstStyle/>
          <a:p>
            <a:pPr algn="ctr"/>
            <a:r>
              <a:rPr lang="en-IN" sz="1600" b="1" dirty="0">
                <a:latin typeface="Arial" panose="020B0604020202020204" pitchFamily="34" charset="0"/>
                <a:cs typeface="Arial" panose="020B0604020202020204" pitchFamily="34" charset="0"/>
              </a:rPr>
              <a:t>PCA and K-Means Clustering</a:t>
            </a:r>
          </a:p>
        </p:txBody>
      </p:sp>
      <p:pic>
        <p:nvPicPr>
          <p:cNvPr id="5" name="Picture 4">
            <a:extLst>
              <a:ext uri="{FF2B5EF4-FFF2-40B4-BE49-F238E27FC236}">
                <a16:creationId xmlns:a16="http://schemas.microsoft.com/office/drawing/2014/main" id="{BE308215-FB0A-74F2-A2AC-2C09D4B80B86}"/>
              </a:ext>
            </a:extLst>
          </p:cNvPr>
          <p:cNvPicPr>
            <a:picLocks noChangeAspect="1"/>
          </p:cNvPicPr>
          <p:nvPr/>
        </p:nvPicPr>
        <p:blipFill>
          <a:blip r:embed="rId2"/>
          <a:stretch>
            <a:fillRect/>
          </a:stretch>
        </p:blipFill>
        <p:spPr>
          <a:xfrm>
            <a:off x="226142" y="54066"/>
            <a:ext cx="11155332" cy="657317"/>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9E8E163-8E1B-953B-0930-4971652D42D0}"/>
                  </a:ext>
                </a:extLst>
              </p:cNvPr>
              <p:cNvSpPr txBox="1"/>
              <p:nvPr/>
            </p:nvSpPr>
            <p:spPr>
              <a:xfrm>
                <a:off x="313527" y="1387445"/>
                <a:ext cx="3296016" cy="5262979"/>
              </a:xfrm>
              <a:prstGeom prst="rect">
                <a:avLst/>
              </a:prstGeom>
              <a:noFill/>
            </p:spPr>
            <p:txBody>
              <a:bodyPr wrap="square">
                <a:spAutoFit/>
              </a:bodyPr>
              <a:lstStyle/>
              <a:p>
                <a:pPr marL="171450" indent="-171450" algn="just">
                  <a:buFont typeface="Arial" panose="020B0604020202020204" pitchFamily="34" charset="0"/>
                  <a:buChar char="•"/>
                </a:pPr>
                <a:r>
                  <a:rPr lang="en-US" sz="1200" dirty="0"/>
                  <a:t>The PCA scatter plot visualizes state-wise monthly health indicator data using two principal components, showing distinct clusters and distributions by state. </a:t>
                </a:r>
              </a:p>
              <a:p>
                <a:endParaRPr lang="en-US" sz="1200" dirty="0"/>
              </a:p>
              <a:p>
                <a:r>
                  <a:rPr lang="en-US" sz="1200" b="1" dirty="0"/>
                  <a:t>State-specific Data Patterns</a:t>
                </a:r>
              </a:p>
              <a:p>
                <a:pPr marL="285750" indent="-285750">
                  <a:buFont typeface="Arial" panose="020B0604020202020204" pitchFamily="34" charset="0"/>
                  <a:buChar char="•"/>
                </a:pPr>
                <a:r>
                  <a:rPr lang="en-US" sz="1200" dirty="0"/>
                  <a:t>Some states (like Gujarat and Maharashtra) form clear, separate clusters, suggesting distinct health indicator profiles compared to others</a:t>
                </a:r>
              </a:p>
              <a:p>
                <a:pPr marL="285750" indent="-285750">
                  <a:buFont typeface="Arial" panose="020B0604020202020204" pitchFamily="34" charset="0"/>
                  <a:buChar char="•"/>
                </a:pPr>
                <a:r>
                  <a:rPr lang="en-US" sz="1200" dirty="0"/>
                  <a:t>States such as Bihar, Uttar Pradesh, and Madhya Pradesh appear grouped or overlapping, potentially indicating similar healthcare trends or resource distributions.</a:t>
                </a:r>
              </a:p>
              <a:p>
                <a:pPr marL="285750" indent="-285750">
                  <a:buFont typeface="Arial" panose="020B0604020202020204" pitchFamily="34" charset="0"/>
                  <a:buChar char="•"/>
                </a:pPr>
                <a:endParaRPr lang="en-US" sz="1200" dirty="0"/>
              </a:p>
              <a:p>
                <a:r>
                  <a:rPr lang="en-US" sz="1200" b="1" dirty="0"/>
                  <a:t>K-Means Clustering and Elbow Method</a:t>
                </a:r>
              </a:p>
              <a:p>
                <a:pPr marL="171450" indent="-171450">
                  <a:buFont typeface="Arial" panose="020B0604020202020204" pitchFamily="34" charset="0"/>
                  <a:buChar char="•"/>
                </a:pPr>
                <a:r>
                  <a:rPr lang="en-US" sz="1200" dirty="0"/>
                  <a:t>The elbow curve shows a significant drop in within-cluster sum of squares at </a:t>
                </a:r>
                <a14:m>
                  <m:oMath xmlns:m="http://schemas.openxmlformats.org/officeDocument/2006/math">
                    <m:r>
                      <a:rPr lang="en-US" sz="1200" i="1"/>
                      <m:t>𝑘</m:t>
                    </m:r>
                    <m:r>
                      <a:rPr lang="en-US" sz="1200"/>
                      <m:t>=</m:t>
                    </m:r>
                    <m:r>
                      <a:rPr lang="en-US" sz="1200"/>
                      <m:t>3</m:t>
                    </m:r>
                  </m:oMath>
                </a14:m>
                <a:r>
                  <a:rPr lang="en-US" sz="1200" dirty="0"/>
                  <a:t>, suggesting that three clusters are optimal for this dataset.</a:t>
                </a:r>
              </a:p>
              <a:p>
                <a:pPr marL="171450" indent="-171450">
                  <a:buFont typeface="Arial" panose="020B0604020202020204" pitchFamily="34" charset="0"/>
                  <a:buChar char="•"/>
                </a:pPr>
                <a:r>
                  <a:rPr lang="en-US" sz="1200" dirty="0" err="1"/>
                  <a:t>KMeans</a:t>
                </a:r>
                <a:r>
                  <a:rPr lang="en-US" sz="1200" dirty="0"/>
                  <a:t> clustering divides states' monthly profiles into three distinct clusters, as confirmed by the PCA scatter plot. Each cluster groups together states with similar health indicator trends</a:t>
                </a:r>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mc:Choice>
        <mc:Fallback>
          <p:sp>
            <p:nvSpPr>
              <p:cNvPr id="9" name="TextBox 8">
                <a:extLst>
                  <a:ext uri="{FF2B5EF4-FFF2-40B4-BE49-F238E27FC236}">
                    <a16:creationId xmlns:a16="http://schemas.microsoft.com/office/drawing/2014/main" id="{49E8E163-8E1B-953B-0930-4971652D42D0}"/>
                  </a:ext>
                </a:extLst>
              </p:cNvPr>
              <p:cNvSpPr txBox="1">
                <a:spLocks noRot="1" noChangeAspect="1" noMove="1" noResize="1" noEditPoints="1" noAdjustHandles="1" noChangeArrowheads="1" noChangeShapeType="1" noTextEdit="1"/>
              </p:cNvSpPr>
              <p:nvPr/>
            </p:nvSpPr>
            <p:spPr>
              <a:xfrm>
                <a:off x="313527" y="1387445"/>
                <a:ext cx="3296016" cy="5262979"/>
              </a:xfrm>
              <a:prstGeom prst="rect">
                <a:avLst/>
              </a:prstGeom>
              <a:blipFill>
                <a:blip r:embed="rId3"/>
                <a:stretch>
                  <a:fillRect t="-116" r="-924"/>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157E799D-A247-8881-3451-C124036D1769}"/>
              </a:ext>
            </a:extLst>
          </p:cNvPr>
          <p:cNvPicPr>
            <a:picLocks noChangeAspect="1"/>
          </p:cNvPicPr>
          <p:nvPr/>
        </p:nvPicPr>
        <p:blipFill>
          <a:blip r:embed="rId4"/>
          <a:stretch>
            <a:fillRect/>
          </a:stretch>
        </p:blipFill>
        <p:spPr>
          <a:xfrm>
            <a:off x="4004675" y="930325"/>
            <a:ext cx="3809290" cy="2686432"/>
          </a:xfrm>
          <a:prstGeom prst="rect">
            <a:avLst/>
          </a:prstGeom>
        </p:spPr>
      </p:pic>
      <p:pic>
        <p:nvPicPr>
          <p:cNvPr id="15" name="Picture 14">
            <a:extLst>
              <a:ext uri="{FF2B5EF4-FFF2-40B4-BE49-F238E27FC236}">
                <a16:creationId xmlns:a16="http://schemas.microsoft.com/office/drawing/2014/main" id="{13EA40BF-F469-6680-13E9-DABBA713CD45}"/>
              </a:ext>
            </a:extLst>
          </p:cNvPr>
          <p:cNvPicPr>
            <a:picLocks noChangeAspect="1"/>
          </p:cNvPicPr>
          <p:nvPr/>
        </p:nvPicPr>
        <p:blipFill>
          <a:blip r:embed="rId5"/>
          <a:stretch>
            <a:fillRect/>
          </a:stretch>
        </p:blipFill>
        <p:spPr>
          <a:xfrm>
            <a:off x="7938327" y="930325"/>
            <a:ext cx="3809290" cy="2686432"/>
          </a:xfrm>
          <a:prstGeom prst="rect">
            <a:avLst/>
          </a:prstGeom>
        </p:spPr>
      </p:pic>
      <p:pic>
        <p:nvPicPr>
          <p:cNvPr id="17" name="Picture 16">
            <a:extLst>
              <a:ext uri="{FF2B5EF4-FFF2-40B4-BE49-F238E27FC236}">
                <a16:creationId xmlns:a16="http://schemas.microsoft.com/office/drawing/2014/main" id="{F9D2408F-9D73-A9D9-12F7-FC1608EF632D}"/>
              </a:ext>
            </a:extLst>
          </p:cNvPr>
          <p:cNvPicPr>
            <a:picLocks noChangeAspect="1"/>
          </p:cNvPicPr>
          <p:nvPr/>
        </p:nvPicPr>
        <p:blipFill>
          <a:blip r:embed="rId6"/>
          <a:stretch>
            <a:fillRect/>
          </a:stretch>
        </p:blipFill>
        <p:spPr>
          <a:xfrm>
            <a:off x="4718628" y="3596637"/>
            <a:ext cx="6035964" cy="2925589"/>
          </a:xfrm>
          <a:prstGeom prst="rect">
            <a:avLst/>
          </a:prstGeom>
        </p:spPr>
      </p:pic>
    </p:spTree>
    <p:extLst>
      <p:ext uri="{BB962C8B-B14F-4D97-AF65-F5344CB8AC3E}">
        <p14:creationId xmlns:p14="http://schemas.microsoft.com/office/powerpoint/2010/main" val="317109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E123-283B-F963-2E5C-BE67683A98A6}"/>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00C9E3F1-9889-B294-F3FF-174F7DC93ED6}"/>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AC7335C1-4B3F-7562-F573-92496D4FDDAE}"/>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5EC760D7-E439-9326-C015-C79048EB5D69}"/>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E5D951CA-DD77-C5C1-D5A7-64E1101AC73F}"/>
              </a:ext>
            </a:extLst>
          </p:cNvPr>
          <p:cNvSpPr/>
          <p:nvPr/>
        </p:nvSpPr>
        <p:spPr>
          <a:xfrm>
            <a:off x="3790807" y="857070"/>
            <a:ext cx="8081173"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B7EFA4C9-85BE-0491-4125-85087CDC8CFF}"/>
              </a:ext>
            </a:extLst>
          </p:cNvPr>
          <p:cNvSpPr txBox="1"/>
          <p:nvPr/>
        </p:nvSpPr>
        <p:spPr>
          <a:xfrm>
            <a:off x="320020" y="945052"/>
            <a:ext cx="3328935" cy="523220"/>
          </a:xfrm>
          <a:prstGeom prst="rect">
            <a:avLst/>
          </a:prstGeom>
          <a:noFill/>
        </p:spPr>
        <p:txBody>
          <a:bodyPr wrap="square">
            <a:spAutoFit/>
          </a:bodyPr>
          <a:lstStyle/>
          <a:p>
            <a:pPr algn="just"/>
            <a:r>
              <a:rPr lang="en-US" sz="1400" b="1" dirty="0"/>
              <a:t>Agglomerative Clustering and DBSCAN Clustering </a:t>
            </a:r>
          </a:p>
        </p:txBody>
      </p:sp>
      <p:pic>
        <p:nvPicPr>
          <p:cNvPr id="5" name="Picture 4">
            <a:extLst>
              <a:ext uri="{FF2B5EF4-FFF2-40B4-BE49-F238E27FC236}">
                <a16:creationId xmlns:a16="http://schemas.microsoft.com/office/drawing/2014/main" id="{D9930F80-4EB0-694B-EBE3-2DD9A577D168}"/>
              </a:ext>
            </a:extLst>
          </p:cNvPr>
          <p:cNvPicPr>
            <a:picLocks noChangeAspect="1"/>
          </p:cNvPicPr>
          <p:nvPr/>
        </p:nvPicPr>
        <p:blipFill>
          <a:blip r:embed="rId2"/>
          <a:stretch>
            <a:fillRect/>
          </a:stretch>
        </p:blipFill>
        <p:spPr>
          <a:xfrm>
            <a:off x="226142" y="54066"/>
            <a:ext cx="11155332" cy="657317"/>
          </a:xfrm>
          <a:prstGeom prst="rect">
            <a:avLst/>
          </a:prstGeom>
        </p:spPr>
      </p:pic>
      <p:sp>
        <p:nvSpPr>
          <p:cNvPr id="9" name="TextBox 8">
            <a:extLst>
              <a:ext uri="{FF2B5EF4-FFF2-40B4-BE49-F238E27FC236}">
                <a16:creationId xmlns:a16="http://schemas.microsoft.com/office/drawing/2014/main" id="{6338F873-4C44-4990-D3B7-C48065AA49E8}"/>
              </a:ext>
            </a:extLst>
          </p:cNvPr>
          <p:cNvSpPr txBox="1"/>
          <p:nvPr/>
        </p:nvSpPr>
        <p:spPr>
          <a:xfrm>
            <a:off x="313527" y="1387445"/>
            <a:ext cx="3296016" cy="5816977"/>
          </a:xfrm>
          <a:prstGeom prst="rect">
            <a:avLst/>
          </a:prstGeom>
          <a:noFill/>
        </p:spPr>
        <p:txBody>
          <a:bodyPr wrap="square">
            <a:spAutoFit/>
          </a:bodyPr>
          <a:lstStyle/>
          <a:p>
            <a:pPr algn="just"/>
            <a:r>
              <a:rPr lang="en-US" sz="1200" b="1" dirty="0"/>
              <a:t>Agglomerative Clustering </a:t>
            </a:r>
          </a:p>
          <a:p>
            <a:pPr marL="171450" indent="-171450" algn="just">
              <a:buFont typeface="Arial" panose="020B0604020202020204" pitchFamily="34" charset="0"/>
              <a:buChar char="•"/>
            </a:pPr>
            <a:r>
              <a:rPr lang="en-US" sz="1200" dirty="0"/>
              <a:t>Agglomerative (hierarchical) clustering also results in three primary clusters, which align closely with those discovered using </a:t>
            </a:r>
            <a:r>
              <a:rPr lang="en-US" sz="1200" dirty="0" err="1"/>
              <a:t>KMeans</a:t>
            </a:r>
            <a:r>
              <a:rPr lang="en-US" sz="1200" dirty="0"/>
              <a:t>, lending robustness and validity to the observed patterns.​</a:t>
            </a:r>
          </a:p>
          <a:p>
            <a:pPr marL="171450" indent="-171450" algn="just">
              <a:buFont typeface="Arial" panose="020B0604020202020204" pitchFamily="34" charset="0"/>
              <a:buChar char="•"/>
            </a:pPr>
            <a:r>
              <a:rPr lang="en-US" sz="1200" dirty="0"/>
              <a:t>Cluster assignments for most data points are consistent between both techniques; overlaps and incongruences may highlight borderline or transitional states.</a:t>
            </a:r>
          </a:p>
          <a:p>
            <a:pPr marL="171450" indent="-171450" algn="just">
              <a:buFont typeface="Arial" panose="020B0604020202020204" pitchFamily="34" charset="0"/>
              <a:buChar char="•"/>
            </a:pPr>
            <a:r>
              <a:rPr lang="en-US" sz="1200" dirty="0"/>
              <a:t>The dendrogram displays how state feature profiles group hierarchically. For example, Gujarat, Madhya Pradesh, and Maharashtra cluster closely, sharing similar monthly health profiles.</a:t>
            </a:r>
          </a:p>
          <a:p>
            <a:pPr algn="just"/>
            <a:endParaRPr lang="en-US" sz="1200" dirty="0"/>
          </a:p>
          <a:p>
            <a:pPr algn="just"/>
            <a:r>
              <a:rPr lang="en-US" sz="1200" b="1" dirty="0"/>
              <a:t>DBSCAN Clustering Insights</a:t>
            </a:r>
          </a:p>
          <a:p>
            <a:pPr marL="171450" indent="-171450" algn="just">
              <a:buFont typeface="Arial" panose="020B0604020202020204" pitchFamily="34" charset="0"/>
              <a:buChar char="•"/>
            </a:pPr>
            <a:r>
              <a:rPr lang="en-US" sz="1200" dirty="0"/>
              <a:t>DBSCAN successfully identifies clusters and noise points, marking outliers (noise = -1) distinct from the core groups. Outliers appear at the far right/bottom in PCA space, indicating they do not conform to the main patterns found in other states.​</a:t>
            </a:r>
          </a:p>
          <a:p>
            <a:pPr marL="171450" indent="-171450" algn="just">
              <a:buFont typeface="Arial" panose="020B0604020202020204" pitchFamily="34" charset="0"/>
              <a:buChar char="•"/>
            </a:pPr>
            <a:r>
              <a:rPr lang="en-US" sz="1200" dirty="0"/>
              <a:t>Most states group into two main clusters, while isolated points (Kerala, West Bengal, etc.) likely represent regions with highly distinct health metrics or reporting anomalies.</a:t>
            </a:r>
          </a:p>
          <a:p>
            <a:endParaRPr lang="en-US" sz="1200" dirty="0"/>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p:pic>
        <p:nvPicPr>
          <p:cNvPr id="3" name="Picture 2">
            <a:extLst>
              <a:ext uri="{FF2B5EF4-FFF2-40B4-BE49-F238E27FC236}">
                <a16:creationId xmlns:a16="http://schemas.microsoft.com/office/drawing/2014/main" id="{16EE24C0-C683-7362-E5AD-7FC7553E904D}"/>
              </a:ext>
            </a:extLst>
          </p:cNvPr>
          <p:cNvPicPr>
            <a:picLocks noChangeAspect="1"/>
          </p:cNvPicPr>
          <p:nvPr/>
        </p:nvPicPr>
        <p:blipFill>
          <a:blip r:embed="rId3"/>
          <a:stretch>
            <a:fillRect/>
          </a:stretch>
        </p:blipFill>
        <p:spPr>
          <a:xfrm>
            <a:off x="3905472" y="896301"/>
            <a:ext cx="4381055" cy="5618291"/>
          </a:xfrm>
          <a:prstGeom prst="rect">
            <a:avLst/>
          </a:prstGeom>
        </p:spPr>
      </p:pic>
      <p:pic>
        <p:nvPicPr>
          <p:cNvPr id="10" name="Picture 9">
            <a:extLst>
              <a:ext uri="{FF2B5EF4-FFF2-40B4-BE49-F238E27FC236}">
                <a16:creationId xmlns:a16="http://schemas.microsoft.com/office/drawing/2014/main" id="{BCDEBE7C-0DC2-BFF3-A44D-F187452A5835}"/>
              </a:ext>
            </a:extLst>
          </p:cNvPr>
          <p:cNvPicPr>
            <a:picLocks noChangeAspect="1"/>
          </p:cNvPicPr>
          <p:nvPr/>
        </p:nvPicPr>
        <p:blipFill>
          <a:blip r:embed="rId4"/>
          <a:stretch>
            <a:fillRect/>
          </a:stretch>
        </p:blipFill>
        <p:spPr>
          <a:xfrm>
            <a:off x="8286527" y="945052"/>
            <a:ext cx="3538076" cy="2239421"/>
          </a:xfrm>
          <a:prstGeom prst="rect">
            <a:avLst/>
          </a:prstGeom>
        </p:spPr>
      </p:pic>
      <p:sp>
        <p:nvSpPr>
          <p:cNvPr id="13" name="TextBox 12">
            <a:extLst>
              <a:ext uri="{FF2B5EF4-FFF2-40B4-BE49-F238E27FC236}">
                <a16:creationId xmlns:a16="http://schemas.microsoft.com/office/drawing/2014/main" id="{D423A52F-5532-6242-1321-06C3D42DDE31}"/>
              </a:ext>
            </a:extLst>
          </p:cNvPr>
          <p:cNvSpPr txBox="1"/>
          <p:nvPr/>
        </p:nvSpPr>
        <p:spPr>
          <a:xfrm>
            <a:off x="8613715" y="3429000"/>
            <a:ext cx="2883700" cy="2923877"/>
          </a:xfrm>
          <a:prstGeom prst="rect">
            <a:avLst/>
          </a:prstGeom>
          <a:noFill/>
        </p:spPr>
        <p:txBody>
          <a:bodyPr wrap="square">
            <a:spAutoFit/>
          </a:bodyPr>
          <a:lstStyle/>
          <a:p>
            <a:pPr algn="l" latinLnBrk="1">
              <a:buNone/>
            </a:pPr>
            <a:r>
              <a:rPr lang="en-IN" sz="1500" b="1" i="0" dirty="0">
                <a:effectLst/>
                <a:latin typeface="menlo"/>
              </a:rPr>
              <a:t>Cluster Evaluation Metrics:</a:t>
            </a:r>
          </a:p>
          <a:p>
            <a:pPr marL="171450" indent="-171450" algn="l" latinLnBrk="1">
              <a:buFont typeface="Arial" panose="020B0604020202020204" pitchFamily="34" charset="0"/>
              <a:buChar char="•"/>
            </a:pPr>
            <a:r>
              <a:rPr lang="en-IN" sz="1300" b="1" i="0" dirty="0" err="1">
                <a:effectLst/>
                <a:latin typeface="menlo"/>
              </a:rPr>
              <a:t>KMeans</a:t>
            </a:r>
            <a:r>
              <a:rPr lang="en-IN" sz="1300" b="0" i="0" dirty="0">
                <a:effectLst/>
                <a:latin typeface="menlo"/>
              </a:rPr>
              <a:t>: Silhouette=0.495 | DBI=0.843 | CHI=133.832</a:t>
            </a:r>
          </a:p>
          <a:p>
            <a:pPr marL="171450" indent="-171450" algn="l" latinLnBrk="1">
              <a:buFont typeface="Arial" panose="020B0604020202020204" pitchFamily="34" charset="0"/>
              <a:buChar char="•"/>
            </a:pPr>
            <a:r>
              <a:rPr lang="en-IN" sz="1300" b="1" i="0" dirty="0">
                <a:effectLst/>
                <a:latin typeface="menlo"/>
              </a:rPr>
              <a:t>Agglomerative</a:t>
            </a:r>
            <a:r>
              <a:rPr lang="en-IN" sz="1300" b="0" i="0" dirty="0">
                <a:effectLst/>
                <a:latin typeface="menlo"/>
              </a:rPr>
              <a:t>: Silhouette=0.495 | DBI=0.865 | CHI=125.829</a:t>
            </a:r>
          </a:p>
          <a:p>
            <a:pPr marL="171450" indent="-171450" algn="l" latinLnBrk="1">
              <a:buFont typeface="Arial" panose="020B0604020202020204" pitchFamily="34" charset="0"/>
              <a:buChar char="•"/>
            </a:pPr>
            <a:r>
              <a:rPr lang="en-IN" sz="1300" b="1" i="0" dirty="0">
                <a:effectLst/>
                <a:latin typeface="menlo"/>
              </a:rPr>
              <a:t>DBSCAN</a:t>
            </a:r>
            <a:r>
              <a:rPr lang="en-IN" sz="1300" b="0" i="0" dirty="0">
                <a:effectLst/>
                <a:latin typeface="menlo"/>
              </a:rPr>
              <a:t>: Silhouette=0.584 | DBI=0.440 | CHI=74.935</a:t>
            </a:r>
          </a:p>
          <a:p>
            <a:pPr marL="171450" indent="-171450" algn="l" latinLnBrk="1">
              <a:buFont typeface="Arial" panose="020B0604020202020204" pitchFamily="34" charset="0"/>
              <a:buChar char="•"/>
            </a:pPr>
            <a:endParaRPr lang="en-IN" sz="1300" dirty="0">
              <a:latin typeface="menlo"/>
            </a:endParaRPr>
          </a:p>
          <a:p>
            <a:pPr marL="171450" indent="-171450" latinLnBrk="1">
              <a:buFont typeface="Arial" panose="020B0604020202020204" pitchFamily="34" charset="0"/>
              <a:buChar char="•"/>
            </a:pPr>
            <a:r>
              <a:rPr lang="en-US" sz="1300" dirty="0"/>
              <a:t>The silhouette score (~0.61) indicates a reasonably good cluster structure for the DBSCAN result, with clusters being well-separated and data points within each cluster being similar.</a:t>
            </a:r>
            <a:endParaRPr lang="en-IN" sz="1300" b="0" i="0" dirty="0">
              <a:effectLst/>
              <a:latin typeface="menlo"/>
            </a:endParaRPr>
          </a:p>
        </p:txBody>
      </p:sp>
    </p:spTree>
    <p:extLst>
      <p:ext uri="{BB962C8B-B14F-4D97-AF65-F5344CB8AC3E}">
        <p14:creationId xmlns:p14="http://schemas.microsoft.com/office/powerpoint/2010/main" val="7524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E69EF-4D73-B84C-E53E-AD434BF44068}"/>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1FCA43BD-35C7-0414-FA45-895EE1976EA1}"/>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E0D195E0-9745-185B-7BE0-DDF28726EC8B}"/>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08286A5B-830C-4964-B63A-41E51E3E95AB}"/>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C13F08FD-DA8C-3104-5C21-66E994BA920E}"/>
              </a:ext>
            </a:extLst>
          </p:cNvPr>
          <p:cNvSpPr/>
          <p:nvPr/>
        </p:nvSpPr>
        <p:spPr>
          <a:xfrm>
            <a:off x="3790807" y="857070"/>
            <a:ext cx="8081173"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AC9C5811-0033-65EF-05DE-FCE25B689731}"/>
              </a:ext>
            </a:extLst>
          </p:cNvPr>
          <p:cNvSpPr txBox="1"/>
          <p:nvPr/>
        </p:nvSpPr>
        <p:spPr>
          <a:xfrm>
            <a:off x="320020" y="945052"/>
            <a:ext cx="3328935" cy="784830"/>
          </a:xfrm>
          <a:prstGeom prst="rect">
            <a:avLst/>
          </a:prstGeom>
          <a:noFill/>
        </p:spPr>
        <p:txBody>
          <a:bodyPr wrap="square">
            <a:spAutoFit/>
          </a:bodyPr>
          <a:lstStyle/>
          <a:p>
            <a:pPr algn="just"/>
            <a:r>
              <a:rPr lang="en-US" sz="1500" b="1" dirty="0"/>
              <a:t>Classification (Random Forest, SVM, </a:t>
            </a:r>
            <a:r>
              <a:rPr lang="en-IN" sz="1500" b="1" dirty="0"/>
              <a:t>Logistic Regression</a:t>
            </a:r>
            <a:r>
              <a:rPr lang="en-US" sz="1500" b="1" dirty="0"/>
              <a:t> and </a:t>
            </a:r>
            <a:r>
              <a:rPr lang="en-US" sz="1500" b="1" dirty="0" err="1"/>
              <a:t>XGBoost</a:t>
            </a:r>
            <a:r>
              <a:rPr lang="en-US" sz="1500" b="1" dirty="0"/>
              <a:t>)</a:t>
            </a:r>
          </a:p>
        </p:txBody>
      </p:sp>
      <p:pic>
        <p:nvPicPr>
          <p:cNvPr id="5" name="Picture 4">
            <a:extLst>
              <a:ext uri="{FF2B5EF4-FFF2-40B4-BE49-F238E27FC236}">
                <a16:creationId xmlns:a16="http://schemas.microsoft.com/office/drawing/2014/main" id="{D68D21FC-80FD-003A-8D98-C994EC479B33}"/>
              </a:ext>
            </a:extLst>
          </p:cNvPr>
          <p:cNvPicPr>
            <a:picLocks noChangeAspect="1"/>
          </p:cNvPicPr>
          <p:nvPr/>
        </p:nvPicPr>
        <p:blipFill>
          <a:blip r:embed="rId2"/>
          <a:stretch>
            <a:fillRect/>
          </a:stretch>
        </p:blipFill>
        <p:spPr>
          <a:xfrm>
            <a:off x="226142" y="54066"/>
            <a:ext cx="11155332" cy="657317"/>
          </a:xfrm>
          <a:prstGeom prst="rect">
            <a:avLst/>
          </a:prstGeom>
        </p:spPr>
      </p:pic>
      <p:sp>
        <p:nvSpPr>
          <p:cNvPr id="9" name="TextBox 8">
            <a:extLst>
              <a:ext uri="{FF2B5EF4-FFF2-40B4-BE49-F238E27FC236}">
                <a16:creationId xmlns:a16="http://schemas.microsoft.com/office/drawing/2014/main" id="{293C29C2-6258-0739-8F8A-C1A839AF39F2}"/>
              </a:ext>
            </a:extLst>
          </p:cNvPr>
          <p:cNvSpPr txBox="1"/>
          <p:nvPr/>
        </p:nvSpPr>
        <p:spPr>
          <a:xfrm>
            <a:off x="320020" y="1836395"/>
            <a:ext cx="3296016" cy="3231654"/>
          </a:xfrm>
          <a:prstGeom prst="rect">
            <a:avLst/>
          </a:prstGeom>
          <a:noFill/>
        </p:spPr>
        <p:txBody>
          <a:bodyPr wrap="square">
            <a:spAutoFit/>
          </a:bodyPr>
          <a:lstStyle/>
          <a:p>
            <a:pPr marL="171450" indent="-171450" algn="just">
              <a:buFont typeface="Arial" panose="020B0604020202020204" pitchFamily="34" charset="0"/>
              <a:buChar char="•"/>
            </a:pPr>
            <a:r>
              <a:rPr lang="en-US" sz="1200" dirty="0"/>
              <a:t>The classification results and confusion matrices reveal high predictive performance across models for your dataset, with Random Forest, SVM, and </a:t>
            </a:r>
            <a:r>
              <a:rPr lang="en-US" sz="1200" dirty="0" err="1"/>
              <a:t>XGBoost</a:t>
            </a:r>
            <a:r>
              <a:rPr lang="en-US" sz="1200" dirty="0"/>
              <a:t> all achieving perfect accuracy, while Logistic Regression is slightly lower but still strong.</a:t>
            </a:r>
          </a:p>
          <a:p>
            <a:pPr marL="171450" indent="-171450" algn="just">
              <a:buFont typeface="Arial" panose="020B0604020202020204" pitchFamily="34" charset="0"/>
              <a:buChar char="•"/>
            </a:pPr>
            <a:r>
              <a:rPr lang="en-US" sz="1200" dirty="0"/>
              <a:t>Random Forest, SVM, and </a:t>
            </a:r>
            <a:r>
              <a:rPr lang="en-US" sz="1200" dirty="0" err="1"/>
              <a:t>XGBoost</a:t>
            </a:r>
            <a:r>
              <a:rPr lang="en-US" sz="1200" dirty="0"/>
              <a:t> classify all test samples correctly, as reflected by their perfect accuracy, recall, and precision scores.​</a:t>
            </a:r>
          </a:p>
          <a:p>
            <a:pPr marL="171450" indent="-171450" algn="just">
              <a:buFont typeface="Arial" panose="020B0604020202020204" pitchFamily="34" charset="0"/>
              <a:buChar char="•"/>
            </a:pPr>
            <a:r>
              <a:rPr lang="en-US" sz="1200" dirty="0"/>
              <a:t>Logistic Regression shows high but slightly lower accuracy (0.971), missing only one sample, as confirmed by its confusion matrix.</a:t>
            </a:r>
          </a:p>
          <a:p>
            <a:pPr marL="171450" indent="-171450" algn="just">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p:pic>
        <p:nvPicPr>
          <p:cNvPr id="7" name="Picture 6">
            <a:extLst>
              <a:ext uri="{FF2B5EF4-FFF2-40B4-BE49-F238E27FC236}">
                <a16:creationId xmlns:a16="http://schemas.microsoft.com/office/drawing/2014/main" id="{1B394006-028B-9748-2179-267E20F520F7}"/>
              </a:ext>
            </a:extLst>
          </p:cNvPr>
          <p:cNvPicPr>
            <a:picLocks noChangeAspect="1"/>
          </p:cNvPicPr>
          <p:nvPr/>
        </p:nvPicPr>
        <p:blipFill>
          <a:blip r:embed="rId3"/>
          <a:stretch>
            <a:fillRect/>
          </a:stretch>
        </p:blipFill>
        <p:spPr>
          <a:xfrm>
            <a:off x="613586" y="4749071"/>
            <a:ext cx="2410654" cy="1585956"/>
          </a:xfrm>
          <a:prstGeom prst="rect">
            <a:avLst/>
          </a:prstGeom>
        </p:spPr>
      </p:pic>
      <p:pic>
        <p:nvPicPr>
          <p:cNvPr id="12" name="Picture 11">
            <a:extLst>
              <a:ext uri="{FF2B5EF4-FFF2-40B4-BE49-F238E27FC236}">
                <a16:creationId xmlns:a16="http://schemas.microsoft.com/office/drawing/2014/main" id="{98383A59-2DB2-F796-5A94-29D98EC5C1CF}"/>
              </a:ext>
            </a:extLst>
          </p:cNvPr>
          <p:cNvPicPr>
            <a:picLocks noChangeAspect="1"/>
          </p:cNvPicPr>
          <p:nvPr/>
        </p:nvPicPr>
        <p:blipFill>
          <a:blip r:embed="rId4"/>
          <a:stretch>
            <a:fillRect/>
          </a:stretch>
        </p:blipFill>
        <p:spPr>
          <a:xfrm>
            <a:off x="3905474" y="945052"/>
            <a:ext cx="2594905" cy="5470194"/>
          </a:xfrm>
          <a:prstGeom prst="rect">
            <a:avLst/>
          </a:prstGeom>
        </p:spPr>
      </p:pic>
      <p:pic>
        <p:nvPicPr>
          <p:cNvPr id="16" name="Picture 15">
            <a:extLst>
              <a:ext uri="{FF2B5EF4-FFF2-40B4-BE49-F238E27FC236}">
                <a16:creationId xmlns:a16="http://schemas.microsoft.com/office/drawing/2014/main" id="{54C3BC3B-EA01-29E2-493E-54A5BF49650B}"/>
              </a:ext>
            </a:extLst>
          </p:cNvPr>
          <p:cNvPicPr>
            <a:picLocks noChangeAspect="1"/>
          </p:cNvPicPr>
          <p:nvPr/>
        </p:nvPicPr>
        <p:blipFill>
          <a:blip r:embed="rId5"/>
          <a:stretch>
            <a:fillRect/>
          </a:stretch>
        </p:blipFill>
        <p:spPr>
          <a:xfrm>
            <a:off x="6615046" y="945052"/>
            <a:ext cx="2761725" cy="5389975"/>
          </a:xfrm>
          <a:prstGeom prst="rect">
            <a:avLst/>
          </a:prstGeom>
        </p:spPr>
      </p:pic>
      <p:sp>
        <p:nvSpPr>
          <p:cNvPr id="18" name="TextBox 17">
            <a:extLst>
              <a:ext uri="{FF2B5EF4-FFF2-40B4-BE49-F238E27FC236}">
                <a16:creationId xmlns:a16="http://schemas.microsoft.com/office/drawing/2014/main" id="{CB1FCF8A-C572-E488-D029-6E741E76F1AF}"/>
              </a:ext>
            </a:extLst>
          </p:cNvPr>
          <p:cNvSpPr txBox="1"/>
          <p:nvPr/>
        </p:nvSpPr>
        <p:spPr>
          <a:xfrm>
            <a:off x="9392624" y="3521334"/>
            <a:ext cx="2401331" cy="2492990"/>
          </a:xfrm>
          <a:prstGeom prst="rect">
            <a:avLst/>
          </a:prstGeom>
          <a:noFill/>
        </p:spPr>
        <p:txBody>
          <a:bodyPr wrap="square">
            <a:spAutoFit/>
          </a:bodyPr>
          <a:lstStyle/>
          <a:p>
            <a:pPr algn="l">
              <a:buNone/>
            </a:pPr>
            <a:r>
              <a:rPr lang="en-US" sz="1200" b="1" i="0" dirty="0">
                <a:effectLst/>
                <a:latin typeface="fkGrotesk"/>
              </a:rPr>
              <a:t>Key Implications</a:t>
            </a:r>
          </a:p>
          <a:p>
            <a:pPr algn="just">
              <a:buFont typeface="Arial" panose="020B0604020202020204" pitchFamily="34" charset="0"/>
              <a:buChar char="•"/>
            </a:pPr>
            <a:r>
              <a:rPr lang="en-US" sz="1200" b="0" i="0" dirty="0">
                <a:effectLst/>
                <a:latin typeface="fkGroteskNeue"/>
              </a:rPr>
              <a:t>The top-performing models are highly reliable for this multiclass classification, suggesting the features provided are strong discriminators for class separation.​</a:t>
            </a:r>
          </a:p>
          <a:p>
            <a:pPr algn="just">
              <a:buFont typeface="Arial" panose="020B0604020202020204" pitchFamily="34" charset="0"/>
              <a:buChar char="•"/>
            </a:pPr>
            <a:r>
              <a:rPr lang="en-US" sz="1200" b="0" i="0" dirty="0">
                <a:effectLst/>
                <a:latin typeface="fkGroteskNeue"/>
              </a:rPr>
              <a:t>The robustness across SVM, Random Forest, and </a:t>
            </a:r>
            <a:r>
              <a:rPr lang="en-US" sz="1200" b="0" i="0" dirty="0" err="1">
                <a:effectLst/>
                <a:latin typeface="fkGroteskNeue"/>
              </a:rPr>
              <a:t>XGBoost</a:t>
            </a:r>
            <a:r>
              <a:rPr lang="en-US" sz="1200" b="0" i="0" dirty="0">
                <a:effectLst/>
                <a:latin typeface="fkGroteskNeue"/>
              </a:rPr>
              <a:t> supports trust in the pipeline and model choice, and any deployment or decision support system built on these models would have highly stable predictive power.</a:t>
            </a:r>
          </a:p>
        </p:txBody>
      </p:sp>
      <p:sp>
        <p:nvSpPr>
          <p:cNvPr id="20" name="TextBox 19">
            <a:extLst>
              <a:ext uri="{FF2B5EF4-FFF2-40B4-BE49-F238E27FC236}">
                <a16:creationId xmlns:a16="http://schemas.microsoft.com/office/drawing/2014/main" id="{17C9AE5C-DA91-5943-8724-9233FF8F2310}"/>
              </a:ext>
            </a:extLst>
          </p:cNvPr>
          <p:cNvSpPr txBox="1"/>
          <p:nvPr/>
        </p:nvSpPr>
        <p:spPr>
          <a:xfrm>
            <a:off x="9376771" y="1028343"/>
            <a:ext cx="2245281" cy="2308324"/>
          </a:xfrm>
          <a:prstGeom prst="rect">
            <a:avLst/>
          </a:prstGeom>
          <a:noFill/>
        </p:spPr>
        <p:txBody>
          <a:bodyPr wrap="square">
            <a:spAutoFit/>
          </a:bodyPr>
          <a:lstStyle/>
          <a:p>
            <a:pPr>
              <a:buNone/>
            </a:pPr>
            <a:r>
              <a:rPr lang="en-US" sz="1200" b="1" i="0" dirty="0">
                <a:effectLst/>
                <a:latin typeface="fkGrotesk"/>
              </a:rPr>
              <a:t>Confusion Matrix Interpretation</a:t>
            </a:r>
          </a:p>
          <a:p>
            <a:pPr algn="just">
              <a:buFont typeface="Arial" panose="020B0604020202020204" pitchFamily="34" charset="0"/>
              <a:buChar char="•"/>
            </a:pPr>
            <a:r>
              <a:rPr lang="en-US" sz="1200" b="0" i="0" dirty="0">
                <a:effectLst/>
                <a:latin typeface="fkGroteskNeue"/>
              </a:rPr>
              <a:t>All models have very high precision, recall, and F1, with only Logistic Regression making a single misclassification on one of the classes (likely a borderline case).​</a:t>
            </a:r>
          </a:p>
          <a:p>
            <a:pPr algn="just">
              <a:buFont typeface="Arial" panose="020B0604020202020204" pitchFamily="34" charset="0"/>
              <a:buChar char="•"/>
            </a:pPr>
            <a:r>
              <a:rPr lang="en-US" sz="1200" b="0" i="0" dirty="0">
                <a:effectLst/>
                <a:latin typeface="fkGroteskNeue"/>
              </a:rPr>
              <a:t>There is no class imbalance issue and the support is well distributed across classes, boosting confidence in the results.</a:t>
            </a:r>
          </a:p>
        </p:txBody>
      </p:sp>
    </p:spTree>
    <p:extLst>
      <p:ext uri="{BB962C8B-B14F-4D97-AF65-F5344CB8AC3E}">
        <p14:creationId xmlns:p14="http://schemas.microsoft.com/office/powerpoint/2010/main" val="167027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025C-C99F-C649-59D7-A0A575F8EF20}"/>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C71ECD60-0A69-D396-E064-ED7DA3E268D7}"/>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4896F4F4-8CD8-6075-9E84-C9DE586475A6}"/>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79ECB8CC-5448-81DA-9C58-E1707FED4585}"/>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5EC45698-CAF7-53B6-86C8-458B56BFFEC2}"/>
              </a:ext>
            </a:extLst>
          </p:cNvPr>
          <p:cNvSpPr/>
          <p:nvPr/>
        </p:nvSpPr>
        <p:spPr>
          <a:xfrm>
            <a:off x="3790807" y="857070"/>
            <a:ext cx="8081173"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AF47D455-7BD6-D7A1-F2B5-B0BE5B5887AA}"/>
              </a:ext>
            </a:extLst>
          </p:cNvPr>
          <p:cNvSpPr txBox="1"/>
          <p:nvPr/>
        </p:nvSpPr>
        <p:spPr>
          <a:xfrm>
            <a:off x="320020" y="945052"/>
            <a:ext cx="3328935" cy="553998"/>
          </a:xfrm>
          <a:prstGeom prst="rect">
            <a:avLst/>
          </a:prstGeom>
          <a:noFill/>
        </p:spPr>
        <p:txBody>
          <a:bodyPr wrap="square">
            <a:spAutoFit/>
          </a:bodyPr>
          <a:lstStyle/>
          <a:p>
            <a:r>
              <a:rPr lang="en-IN" sz="1500" b="1" dirty="0"/>
              <a:t>Regression </a:t>
            </a:r>
            <a:r>
              <a:rPr lang="en-US" sz="1500" b="1" dirty="0"/>
              <a:t>(Linear, Random Forest, </a:t>
            </a:r>
            <a:r>
              <a:rPr lang="en-US" sz="1500" b="1" dirty="0" err="1"/>
              <a:t>XGBoost</a:t>
            </a:r>
            <a:r>
              <a:rPr lang="en-US" sz="1500" b="1" dirty="0"/>
              <a:t>, </a:t>
            </a:r>
            <a:r>
              <a:rPr lang="en-US" sz="1500" b="1" dirty="0" err="1"/>
              <a:t>LightGBM</a:t>
            </a:r>
            <a:r>
              <a:rPr lang="en-US" sz="1500" b="1" dirty="0"/>
              <a:t>)</a:t>
            </a:r>
            <a:endParaRPr lang="en-IN" sz="1500" b="1" dirty="0"/>
          </a:p>
        </p:txBody>
      </p:sp>
      <p:pic>
        <p:nvPicPr>
          <p:cNvPr id="5" name="Picture 4">
            <a:extLst>
              <a:ext uri="{FF2B5EF4-FFF2-40B4-BE49-F238E27FC236}">
                <a16:creationId xmlns:a16="http://schemas.microsoft.com/office/drawing/2014/main" id="{838A213B-33AB-C92E-FE8C-0A0F70C8BC76}"/>
              </a:ext>
            </a:extLst>
          </p:cNvPr>
          <p:cNvPicPr>
            <a:picLocks noChangeAspect="1"/>
          </p:cNvPicPr>
          <p:nvPr/>
        </p:nvPicPr>
        <p:blipFill>
          <a:blip r:embed="rId2"/>
          <a:stretch>
            <a:fillRect/>
          </a:stretch>
        </p:blipFill>
        <p:spPr>
          <a:xfrm>
            <a:off x="226142" y="54066"/>
            <a:ext cx="11155332" cy="657317"/>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D1DDEF90-7D9E-6536-BDDD-23145D6D2CF7}"/>
                  </a:ext>
                </a:extLst>
              </p:cNvPr>
              <p:cNvSpPr txBox="1"/>
              <p:nvPr/>
            </p:nvSpPr>
            <p:spPr>
              <a:xfrm>
                <a:off x="234125" y="1428870"/>
                <a:ext cx="3414829" cy="4343818"/>
              </a:xfrm>
              <a:prstGeom prst="rect">
                <a:avLst/>
              </a:prstGeom>
              <a:noFill/>
            </p:spPr>
            <p:txBody>
              <a:bodyPr wrap="square">
                <a:spAutoFit/>
              </a:bodyPr>
              <a:lstStyle/>
              <a:p>
                <a:pPr marL="171450" indent="-171450">
                  <a:buFont typeface="Arial" panose="020B0604020202020204" pitchFamily="34" charset="0"/>
                  <a:buChar char="•"/>
                </a:pPr>
                <a:r>
                  <a:rPr lang="en-IN" sz="1200" dirty="0"/>
                  <a:t>Regression models (Linear, Random Forest, </a:t>
                </a:r>
                <a:r>
                  <a:rPr lang="en-IN" sz="1200" dirty="0" err="1"/>
                  <a:t>XGBoost</a:t>
                </a:r>
                <a:r>
                  <a:rPr lang="en-IN" sz="1200" dirty="0"/>
                  <a:t>, </a:t>
                </a:r>
                <a:r>
                  <a:rPr lang="en-IN" sz="1200" dirty="0" err="1"/>
                  <a:t>LightGBM</a:t>
                </a:r>
                <a:r>
                  <a:rPr lang="en-IN" sz="1200" dirty="0"/>
                  <a:t>) display very high </a:t>
                </a:r>
                <a14:m>
                  <m:oMath xmlns:m="http://schemas.openxmlformats.org/officeDocument/2006/math">
                    <m:sSup>
                      <m:sSupPr>
                        <m:ctrlPr>
                          <a:rPr lang="ar-AE" sz="1200"/>
                        </m:ctrlPr>
                      </m:sSupPr>
                      <m:e>
                        <m:r>
                          <a:rPr lang="ar-AE" sz="1200" i="1"/>
                          <m:t>𝑅</m:t>
                        </m:r>
                      </m:e>
                      <m:sup>
                        <m:r>
                          <a:rPr lang="ar-AE" sz="1200"/>
                          <m:t>2</m:t>
                        </m:r>
                      </m:sup>
                    </m:sSup>
                  </m:oMath>
                </a14:m>
                <a:r>
                  <a:rPr lang="ar-AE" sz="1200" dirty="0"/>
                  <a:t> </a:t>
                </a:r>
                <a:r>
                  <a:rPr lang="en-IN" sz="1200" dirty="0"/>
                  <a:t>and tight actual vs. predicted fits, with Random Forest delivering the lowest error rates (MAE, RMSE).</a:t>
                </a:r>
              </a:p>
              <a:p>
                <a:pPr marL="171450" indent="-171450">
                  <a:buFont typeface="Arial" panose="020B0604020202020204" pitchFamily="34" charset="0"/>
                  <a:buChar char="•"/>
                </a:pPr>
                <a:r>
                  <a:rPr lang="en-IN" sz="1200" dirty="0"/>
                  <a:t>Across models, “In </a:t>
                </a:r>
                <a:r>
                  <a:rPr lang="en-IN" sz="1200" dirty="0" err="1"/>
                  <a:t>Patient_Head_Count_At_Midnight</a:t>
                </a:r>
                <a:r>
                  <a:rPr lang="en-IN" sz="1200" dirty="0"/>
                  <a:t>” is the dominant predictor, but other features like outpatient attendance and lab tests contribute in more nuanced models (such as </a:t>
                </a:r>
                <a:r>
                  <a:rPr lang="en-IN" sz="1200" dirty="0" err="1"/>
                  <a:t>LightGBM</a:t>
                </a:r>
                <a:r>
                  <a:rPr lang="en-IN" sz="1200" dirty="0"/>
                  <a:t>).​</a:t>
                </a:r>
              </a:p>
              <a:p>
                <a:pPr marL="171450" indent="-171450">
                  <a:buFont typeface="Arial" panose="020B0604020202020204" pitchFamily="34" charset="0"/>
                  <a:buChar char="•"/>
                </a:pPr>
                <a:r>
                  <a:rPr lang="en-IN" sz="1200" dirty="0"/>
                  <a:t>Monthly and state-level time series reveal seasonal variation and persistent state disparities in key health indicators, supporting effective forecasting and resource planning.​</a:t>
                </a:r>
              </a:p>
              <a:p>
                <a:pPr marL="171450" indent="-171450">
                  <a:buFont typeface="Arial" panose="020B0604020202020204" pitchFamily="34" charset="0"/>
                  <a:buChar char="•"/>
                </a:pPr>
                <a:r>
                  <a:rPr lang="en-IN" sz="1200" dirty="0"/>
                  <a:t>Regression feature importances inform policymakers which operational levers (e.g., outpatient services, diagnostics) most influence inpatient demand, especially for states like Maharashtra.</a:t>
                </a:r>
              </a:p>
              <a:p>
                <a:pPr marL="171450" indent="-171450" algn="just">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mc:Choice>
        <mc:Fallback>
          <p:sp>
            <p:nvSpPr>
              <p:cNvPr id="9" name="TextBox 8">
                <a:extLst>
                  <a:ext uri="{FF2B5EF4-FFF2-40B4-BE49-F238E27FC236}">
                    <a16:creationId xmlns:a16="http://schemas.microsoft.com/office/drawing/2014/main" id="{D1DDEF90-7D9E-6536-BDDD-23145D6D2CF7}"/>
                  </a:ext>
                </a:extLst>
              </p:cNvPr>
              <p:cNvSpPr txBox="1">
                <a:spLocks noRot="1" noChangeAspect="1" noMove="1" noResize="1" noEditPoints="1" noAdjustHandles="1" noChangeArrowheads="1" noChangeShapeType="1" noTextEdit="1"/>
              </p:cNvSpPr>
              <p:nvPr/>
            </p:nvSpPr>
            <p:spPr>
              <a:xfrm>
                <a:off x="234125" y="1428870"/>
                <a:ext cx="3414829" cy="4343818"/>
              </a:xfrm>
              <a:prstGeom prst="rect">
                <a:avLst/>
              </a:prstGeom>
              <a:blipFill>
                <a:blip r:embed="rId3"/>
                <a:stretch>
                  <a:fillRect/>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9E99AF80-8575-BC17-693F-3B0A85C44707}"/>
              </a:ext>
            </a:extLst>
          </p:cNvPr>
          <p:cNvPicPr>
            <a:picLocks noChangeAspect="1"/>
          </p:cNvPicPr>
          <p:nvPr/>
        </p:nvPicPr>
        <p:blipFill>
          <a:blip r:embed="rId4"/>
          <a:stretch>
            <a:fillRect/>
          </a:stretch>
        </p:blipFill>
        <p:spPr>
          <a:xfrm>
            <a:off x="3891426" y="888243"/>
            <a:ext cx="2451390" cy="3793203"/>
          </a:xfrm>
          <a:prstGeom prst="rect">
            <a:avLst/>
          </a:prstGeom>
        </p:spPr>
      </p:pic>
      <p:pic>
        <p:nvPicPr>
          <p:cNvPr id="11" name="Picture 10">
            <a:extLst>
              <a:ext uri="{FF2B5EF4-FFF2-40B4-BE49-F238E27FC236}">
                <a16:creationId xmlns:a16="http://schemas.microsoft.com/office/drawing/2014/main" id="{E1B7B2F2-A769-A30A-C70E-1F3337598765}"/>
              </a:ext>
            </a:extLst>
          </p:cNvPr>
          <p:cNvPicPr>
            <a:picLocks noChangeAspect="1"/>
          </p:cNvPicPr>
          <p:nvPr/>
        </p:nvPicPr>
        <p:blipFill>
          <a:blip r:embed="rId5"/>
          <a:stretch>
            <a:fillRect/>
          </a:stretch>
        </p:blipFill>
        <p:spPr>
          <a:xfrm>
            <a:off x="4013484" y="4681446"/>
            <a:ext cx="2329332" cy="1830331"/>
          </a:xfrm>
          <a:prstGeom prst="rect">
            <a:avLst/>
          </a:prstGeom>
        </p:spPr>
      </p:pic>
      <p:pic>
        <p:nvPicPr>
          <p:cNvPr id="15" name="Picture 14">
            <a:extLst>
              <a:ext uri="{FF2B5EF4-FFF2-40B4-BE49-F238E27FC236}">
                <a16:creationId xmlns:a16="http://schemas.microsoft.com/office/drawing/2014/main" id="{7A1122F0-B85C-1BD5-CCB0-031DF661B9CE}"/>
              </a:ext>
            </a:extLst>
          </p:cNvPr>
          <p:cNvPicPr>
            <a:picLocks noChangeAspect="1"/>
          </p:cNvPicPr>
          <p:nvPr/>
        </p:nvPicPr>
        <p:blipFill>
          <a:blip r:embed="rId6"/>
          <a:stretch>
            <a:fillRect/>
          </a:stretch>
        </p:blipFill>
        <p:spPr>
          <a:xfrm>
            <a:off x="6342816" y="4016227"/>
            <a:ext cx="5432885" cy="2381582"/>
          </a:xfrm>
          <a:prstGeom prst="rect">
            <a:avLst/>
          </a:prstGeom>
        </p:spPr>
      </p:pic>
      <p:pic>
        <p:nvPicPr>
          <p:cNvPr id="19" name="Picture 18">
            <a:extLst>
              <a:ext uri="{FF2B5EF4-FFF2-40B4-BE49-F238E27FC236}">
                <a16:creationId xmlns:a16="http://schemas.microsoft.com/office/drawing/2014/main" id="{E05FB094-1D6D-FC35-7CEC-B9A9069645CC}"/>
              </a:ext>
            </a:extLst>
          </p:cNvPr>
          <p:cNvPicPr>
            <a:picLocks noChangeAspect="1"/>
          </p:cNvPicPr>
          <p:nvPr/>
        </p:nvPicPr>
        <p:blipFill>
          <a:blip r:embed="rId7"/>
          <a:stretch>
            <a:fillRect/>
          </a:stretch>
        </p:blipFill>
        <p:spPr>
          <a:xfrm>
            <a:off x="491027" y="5404399"/>
            <a:ext cx="2840664" cy="1107378"/>
          </a:xfrm>
          <a:prstGeom prst="rect">
            <a:avLst/>
          </a:prstGeom>
        </p:spPr>
      </p:pic>
      <p:pic>
        <p:nvPicPr>
          <p:cNvPr id="22" name="Picture 21">
            <a:extLst>
              <a:ext uri="{FF2B5EF4-FFF2-40B4-BE49-F238E27FC236}">
                <a16:creationId xmlns:a16="http://schemas.microsoft.com/office/drawing/2014/main" id="{1623FFD6-7E9E-8B17-9FD1-0C45E599D44E}"/>
              </a:ext>
            </a:extLst>
          </p:cNvPr>
          <p:cNvPicPr>
            <a:picLocks noChangeAspect="1"/>
          </p:cNvPicPr>
          <p:nvPr/>
        </p:nvPicPr>
        <p:blipFill>
          <a:blip r:embed="rId8"/>
          <a:stretch>
            <a:fillRect/>
          </a:stretch>
        </p:blipFill>
        <p:spPr>
          <a:xfrm>
            <a:off x="6908024" y="1099157"/>
            <a:ext cx="4033603" cy="2753901"/>
          </a:xfrm>
          <a:prstGeom prst="rect">
            <a:avLst/>
          </a:prstGeom>
        </p:spPr>
      </p:pic>
    </p:spTree>
    <p:extLst>
      <p:ext uri="{BB962C8B-B14F-4D97-AF65-F5344CB8AC3E}">
        <p14:creationId xmlns:p14="http://schemas.microsoft.com/office/powerpoint/2010/main" val="352322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09D2F-9472-0EDF-3261-FDB87BA1920A}"/>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36D723CE-AF61-03A1-65AE-C4AB09C7A5EA}"/>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26D25714-D2CE-E1DA-0954-DD49F9666269}"/>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E1DA619B-2A7F-C551-E93E-C517CB88484F}"/>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1AAEED59-7894-04FA-D024-51F1FFC8125A}"/>
              </a:ext>
            </a:extLst>
          </p:cNvPr>
          <p:cNvSpPr/>
          <p:nvPr/>
        </p:nvSpPr>
        <p:spPr>
          <a:xfrm>
            <a:off x="3790807" y="857070"/>
            <a:ext cx="8081173"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118C8CCC-87B4-4BF9-1D25-295CC5CAA80F}"/>
              </a:ext>
            </a:extLst>
          </p:cNvPr>
          <p:cNvSpPr txBox="1"/>
          <p:nvPr/>
        </p:nvSpPr>
        <p:spPr>
          <a:xfrm>
            <a:off x="320020" y="945052"/>
            <a:ext cx="3328935" cy="784830"/>
          </a:xfrm>
          <a:prstGeom prst="rect">
            <a:avLst/>
          </a:prstGeom>
          <a:noFill/>
        </p:spPr>
        <p:txBody>
          <a:bodyPr wrap="square">
            <a:spAutoFit/>
          </a:bodyPr>
          <a:lstStyle/>
          <a:p>
            <a:r>
              <a:rPr lang="en-IN" sz="1500" b="1" dirty="0"/>
              <a:t>Feature : In-Patient Head Count Patterns (Time Series)</a:t>
            </a:r>
          </a:p>
          <a:p>
            <a:endParaRPr lang="en-IN" sz="1500" b="1" dirty="0"/>
          </a:p>
        </p:txBody>
      </p:sp>
      <p:pic>
        <p:nvPicPr>
          <p:cNvPr id="5" name="Picture 4">
            <a:extLst>
              <a:ext uri="{FF2B5EF4-FFF2-40B4-BE49-F238E27FC236}">
                <a16:creationId xmlns:a16="http://schemas.microsoft.com/office/drawing/2014/main" id="{EDF63693-B1A4-F6C2-0207-A1CDF2188C34}"/>
              </a:ext>
            </a:extLst>
          </p:cNvPr>
          <p:cNvPicPr>
            <a:picLocks noChangeAspect="1"/>
          </p:cNvPicPr>
          <p:nvPr/>
        </p:nvPicPr>
        <p:blipFill>
          <a:blip r:embed="rId2"/>
          <a:stretch>
            <a:fillRect/>
          </a:stretch>
        </p:blipFill>
        <p:spPr>
          <a:xfrm>
            <a:off x="226142" y="54066"/>
            <a:ext cx="11155332" cy="657317"/>
          </a:xfrm>
          <a:prstGeom prst="rect">
            <a:avLst/>
          </a:prstGeom>
        </p:spPr>
      </p:pic>
      <p:sp>
        <p:nvSpPr>
          <p:cNvPr id="9" name="TextBox 8">
            <a:extLst>
              <a:ext uri="{FF2B5EF4-FFF2-40B4-BE49-F238E27FC236}">
                <a16:creationId xmlns:a16="http://schemas.microsoft.com/office/drawing/2014/main" id="{AD565F8F-0A3D-0130-A461-5DFE7061FFE2}"/>
              </a:ext>
            </a:extLst>
          </p:cNvPr>
          <p:cNvSpPr txBox="1"/>
          <p:nvPr/>
        </p:nvSpPr>
        <p:spPr>
          <a:xfrm>
            <a:off x="234125" y="1428870"/>
            <a:ext cx="3414829" cy="4893647"/>
          </a:xfrm>
          <a:prstGeom prst="rect">
            <a:avLst/>
          </a:prstGeom>
          <a:noFill/>
        </p:spPr>
        <p:txBody>
          <a:bodyPr wrap="square">
            <a:spAutoFit/>
          </a:bodyPr>
          <a:lstStyle/>
          <a:p>
            <a:pPr marL="171450" indent="-171450">
              <a:buFont typeface="Arial" panose="020B0604020202020204" pitchFamily="34" charset="0"/>
              <a:buChar char="•"/>
            </a:pPr>
            <a:r>
              <a:rPr lang="en-US" sz="1200" dirty="0"/>
              <a:t>The time series plot shows Maharashtra and Tamil Nadu consistently record the highest in-patient head counts over the months, with occasional peaks, reflecting greater healthcare utilization or larger population bases.</a:t>
            </a:r>
          </a:p>
          <a:p>
            <a:pPr marL="171450" indent="-171450">
              <a:buFont typeface="Arial" panose="020B0604020202020204" pitchFamily="34" charset="0"/>
              <a:buChar char="•"/>
            </a:pPr>
            <a:r>
              <a:rPr lang="en-US" sz="1200" dirty="0"/>
              <a:t>States like Kerala, Rajasthan, and West Bengal maintain much lower counts, highlighting regional variations in inpatient loads, possibly linked to population, health infrastructure, and policy.​</a:t>
            </a:r>
          </a:p>
          <a:p>
            <a:endParaRPr lang="en-US" sz="1200" dirty="0"/>
          </a:p>
          <a:p>
            <a:r>
              <a:rPr lang="en-US" sz="1500" b="1" dirty="0"/>
              <a:t>Maharashtra Feature Trends</a:t>
            </a:r>
          </a:p>
          <a:p>
            <a:pPr marL="171450" indent="-171450">
              <a:buFont typeface="Arial" panose="020B0604020202020204" pitchFamily="34" charset="0"/>
              <a:buChar char="•"/>
            </a:pPr>
            <a:r>
              <a:rPr lang="en-US" sz="1200" dirty="0"/>
              <a:t>Maharashtra’s feature timeline reveals that “In-Patient Head Count At Midnight” remains the dominant variable, overshadowing others by scale, as seen in prior feature importance charts.</a:t>
            </a:r>
          </a:p>
          <a:p>
            <a:pPr marL="171450" indent="-171450">
              <a:buFont typeface="Arial" panose="020B0604020202020204" pitchFamily="34" charset="0"/>
              <a:buChar char="•"/>
            </a:pPr>
            <a:r>
              <a:rPr lang="en-US" sz="1200" dirty="0"/>
              <a:t>Other features, such as outpatient attendance, lab tests, and emergency registrations, show relatively stable or minor fluctuations, but all remain well below the major inpatient indicator.​</a:t>
            </a:r>
          </a:p>
          <a:p>
            <a:pPr marL="171450" indent="-171450" algn="just">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p:pic>
        <p:nvPicPr>
          <p:cNvPr id="7" name="Picture 6">
            <a:extLst>
              <a:ext uri="{FF2B5EF4-FFF2-40B4-BE49-F238E27FC236}">
                <a16:creationId xmlns:a16="http://schemas.microsoft.com/office/drawing/2014/main" id="{9E4F0F28-69DC-7251-90DD-84F4689E828A}"/>
              </a:ext>
            </a:extLst>
          </p:cNvPr>
          <p:cNvPicPr>
            <a:picLocks noChangeAspect="1"/>
          </p:cNvPicPr>
          <p:nvPr/>
        </p:nvPicPr>
        <p:blipFill>
          <a:blip r:embed="rId3"/>
          <a:stretch>
            <a:fillRect/>
          </a:stretch>
        </p:blipFill>
        <p:spPr>
          <a:xfrm>
            <a:off x="3790807" y="945052"/>
            <a:ext cx="4210193" cy="2823962"/>
          </a:xfrm>
          <a:prstGeom prst="rect">
            <a:avLst/>
          </a:prstGeom>
        </p:spPr>
      </p:pic>
      <p:pic>
        <p:nvPicPr>
          <p:cNvPr id="12" name="Picture 11">
            <a:extLst>
              <a:ext uri="{FF2B5EF4-FFF2-40B4-BE49-F238E27FC236}">
                <a16:creationId xmlns:a16="http://schemas.microsoft.com/office/drawing/2014/main" id="{E0673923-73D0-1DC2-A3A4-68A294877478}"/>
              </a:ext>
            </a:extLst>
          </p:cNvPr>
          <p:cNvPicPr>
            <a:picLocks noChangeAspect="1"/>
          </p:cNvPicPr>
          <p:nvPr/>
        </p:nvPicPr>
        <p:blipFill>
          <a:blip r:embed="rId4"/>
          <a:stretch>
            <a:fillRect/>
          </a:stretch>
        </p:blipFill>
        <p:spPr>
          <a:xfrm>
            <a:off x="3979718" y="3748477"/>
            <a:ext cx="7595755" cy="2779133"/>
          </a:xfrm>
          <a:prstGeom prst="rect">
            <a:avLst/>
          </a:prstGeom>
        </p:spPr>
      </p:pic>
      <p:pic>
        <p:nvPicPr>
          <p:cNvPr id="16" name="Picture 15">
            <a:extLst>
              <a:ext uri="{FF2B5EF4-FFF2-40B4-BE49-F238E27FC236}">
                <a16:creationId xmlns:a16="http://schemas.microsoft.com/office/drawing/2014/main" id="{FB573015-37B5-2081-CE90-F70BE55BC9C4}"/>
              </a:ext>
            </a:extLst>
          </p:cNvPr>
          <p:cNvPicPr>
            <a:picLocks noChangeAspect="1"/>
          </p:cNvPicPr>
          <p:nvPr/>
        </p:nvPicPr>
        <p:blipFill>
          <a:blip r:embed="rId5"/>
          <a:stretch>
            <a:fillRect/>
          </a:stretch>
        </p:blipFill>
        <p:spPr>
          <a:xfrm>
            <a:off x="8081214" y="1160327"/>
            <a:ext cx="3710552" cy="2059783"/>
          </a:xfrm>
          <a:prstGeom prst="rect">
            <a:avLst/>
          </a:prstGeom>
        </p:spPr>
      </p:pic>
    </p:spTree>
    <p:extLst>
      <p:ext uri="{BB962C8B-B14F-4D97-AF65-F5344CB8AC3E}">
        <p14:creationId xmlns:p14="http://schemas.microsoft.com/office/powerpoint/2010/main" val="192428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DF249-6B16-2CC4-562D-3EBBEA402F63}"/>
            </a:ext>
          </a:extLst>
        </p:cNvPr>
        <p:cNvGrpSpPr/>
        <p:nvPr/>
      </p:nvGrpSpPr>
      <p:grpSpPr>
        <a:xfrm>
          <a:off x="0" y="0"/>
          <a:ext cx="0" cy="0"/>
          <a:chOff x="0" y="0"/>
          <a:chExt cx="0" cy="0"/>
        </a:xfrm>
      </p:grpSpPr>
      <p:sp>
        <p:nvSpPr>
          <p:cNvPr id="6" name="Subtitle 2">
            <a:extLst>
              <a:ext uri="{FF2B5EF4-FFF2-40B4-BE49-F238E27FC236}">
                <a16:creationId xmlns:a16="http://schemas.microsoft.com/office/drawing/2014/main" id="{E82593E1-7156-6BDE-B2EE-0BD1C90CC0DD}"/>
              </a:ext>
            </a:extLst>
          </p:cNvPr>
          <p:cNvSpPr txBox="1">
            <a:spLocks/>
          </p:cNvSpPr>
          <p:nvPr/>
        </p:nvSpPr>
        <p:spPr>
          <a:xfrm>
            <a:off x="3493195" y="2797900"/>
            <a:ext cx="1941908" cy="277913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N" sz="5600" dirty="0">
                <a:solidFill>
                  <a:schemeClr val="bg1"/>
                </a:solidFill>
                <a:latin typeface="Rubik" pitchFamily="2" charset="-79"/>
                <a:cs typeface="Rubik" pitchFamily="2" charset="-79"/>
              </a:rPr>
              <a:t>Flow </a:t>
            </a:r>
            <a:r>
              <a:rPr lang="en-IN" sz="2400" dirty="0">
                <a:solidFill>
                  <a:schemeClr val="bg1"/>
                </a:solidFill>
                <a:latin typeface="Rubik" pitchFamily="2" charset="-79"/>
                <a:cs typeface="Rubik" pitchFamily="2" charset="-79"/>
              </a:rPr>
              <a:t>(if applicable)</a:t>
            </a:r>
          </a:p>
        </p:txBody>
      </p:sp>
      <p:sp>
        <p:nvSpPr>
          <p:cNvPr id="8" name="TextBox 7">
            <a:extLst>
              <a:ext uri="{FF2B5EF4-FFF2-40B4-BE49-F238E27FC236}">
                <a16:creationId xmlns:a16="http://schemas.microsoft.com/office/drawing/2014/main" id="{6999222B-1EB3-15C6-B40F-76F4F3F9D3AC}"/>
              </a:ext>
            </a:extLst>
          </p:cNvPr>
          <p:cNvSpPr txBox="1"/>
          <p:nvPr/>
        </p:nvSpPr>
        <p:spPr>
          <a:xfrm>
            <a:off x="0" y="6674841"/>
            <a:ext cx="12192000" cy="369332"/>
          </a:xfrm>
          <a:prstGeom prst="rect">
            <a:avLst/>
          </a:prstGeom>
          <a:solidFill>
            <a:srgbClr val="0070C0"/>
          </a:solidFill>
        </p:spPr>
        <p:txBody>
          <a:bodyPr wrap="square" rtlCol="0">
            <a:spAutoFit/>
          </a:bodyPr>
          <a:lstStyle/>
          <a:p>
            <a:endParaRPr lang="en-IN" dirty="0">
              <a:solidFill>
                <a:schemeClr val="tx2">
                  <a:lumMod val="75000"/>
                  <a:lumOff val="25000"/>
                </a:schemeClr>
              </a:solidFill>
            </a:endParaRPr>
          </a:p>
        </p:txBody>
      </p:sp>
      <p:sp>
        <p:nvSpPr>
          <p:cNvPr id="14" name="Rectangle 13">
            <a:extLst>
              <a:ext uri="{FF2B5EF4-FFF2-40B4-BE49-F238E27FC236}">
                <a16:creationId xmlns:a16="http://schemas.microsoft.com/office/drawing/2014/main" id="{EABA1BC1-149C-21B9-9AF0-59435D06A015}"/>
              </a:ext>
            </a:extLst>
          </p:cNvPr>
          <p:cNvSpPr/>
          <p:nvPr/>
        </p:nvSpPr>
        <p:spPr>
          <a:xfrm>
            <a:off x="226142" y="857071"/>
            <a:ext cx="3470787" cy="5710522"/>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C0CF88BA-9959-864B-480A-E34CB8DDE962}"/>
              </a:ext>
            </a:extLst>
          </p:cNvPr>
          <p:cNvSpPr/>
          <p:nvPr/>
        </p:nvSpPr>
        <p:spPr>
          <a:xfrm>
            <a:off x="3790807" y="857070"/>
            <a:ext cx="8081173" cy="571052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F9365419-A589-43C9-9C41-16780F876410}"/>
              </a:ext>
            </a:extLst>
          </p:cNvPr>
          <p:cNvSpPr txBox="1"/>
          <p:nvPr/>
        </p:nvSpPr>
        <p:spPr>
          <a:xfrm>
            <a:off x="320020" y="945052"/>
            <a:ext cx="3328935" cy="553998"/>
          </a:xfrm>
          <a:prstGeom prst="rect">
            <a:avLst/>
          </a:prstGeom>
          <a:noFill/>
        </p:spPr>
        <p:txBody>
          <a:bodyPr wrap="square">
            <a:spAutoFit/>
          </a:bodyPr>
          <a:lstStyle/>
          <a:p>
            <a:r>
              <a:rPr lang="en-IN" sz="1500" b="1" dirty="0"/>
              <a:t>Deep Learning- Feed Forward NN</a:t>
            </a:r>
          </a:p>
          <a:p>
            <a:endParaRPr lang="en-IN" sz="1500" b="1" dirty="0"/>
          </a:p>
        </p:txBody>
      </p:sp>
      <p:pic>
        <p:nvPicPr>
          <p:cNvPr id="5" name="Picture 4">
            <a:extLst>
              <a:ext uri="{FF2B5EF4-FFF2-40B4-BE49-F238E27FC236}">
                <a16:creationId xmlns:a16="http://schemas.microsoft.com/office/drawing/2014/main" id="{DA9096BC-4A94-196B-AC7D-AA39BF829356}"/>
              </a:ext>
            </a:extLst>
          </p:cNvPr>
          <p:cNvPicPr>
            <a:picLocks noChangeAspect="1"/>
          </p:cNvPicPr>
          <p:nvPr/>
        </p:nvPicPr>
        <p:blipFill>
          <a:blip r:embed="rId2"/>
          <a:stretch>
            <a:fillRect/>
          </a:stretch>
        </p:blipFill>
        <p:spPr>
          <a:xfrm>
            <a:off x="226142" y="54066"/>
            <a:ext cx="11155332" cy="657317"/>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067D805-51C8-B858-93A2-16790D420C1F}"/>
                  </a:ext>
                </a:extLst>
              </p:cNvPr>
              <p:cNvSpPr txBox="1"/>
              <p:nvPr/>
            </p:nvSpPr>
            <p:spPr>
              <a:xfrm>
                <a:off x="234125" y="1428870"/>
                <a:ext cx="3414829" cy="4532651"/>
              </a:xfrm>
              <a:prstGeom prst="rect">
                <a:avLst/>
              </a:prstGeom>
              <a:noFill/>
            </p:spPr>
            <p:txBody>
              <a:bodyPr wrap="square">
                <a:spAutoFit/>
              </a:bodyPr>
              <a:lstStyle/>
              <a:p>
                <a:pPr marL="171450" indent="-171450" algn="just">
                  <a:buFont typeface="Arial" panose="020B0604020202020204" pitchFamily="34" charset="0"/>
                  <a:buChar char="•"/>
                </a:pPr>
                <a:r>
                  <a:rPr lang="en-IN" sz="1200" dirty="0"/>
                  <a:t>A feed-forward NN can successfully model real healthcare data for Maharashtra and predict patient counts.</a:t>
                </a:r>
              </a:p>
              <a:p>
                <a:pPr marL="171450" indent="-171450" algn="just">
                  <a:buFont typeface="Arial" panose="020B0604020202020204" pitchFamily="34" charset="0"/>
                  <a:buChar char="•"/>
                </a:pPr>
                <a:r>
                  <a:rPr lang="en-IN" sz="1200" dirty="0"/>
                  <a:t>The “actual vs predicted” scatter plot visually demonstrates how well the neural network fits data points on/near the diagonal indicate stronger prediction.</a:t>
                </a:r>
              </a:p>
              <a:p>
                <a:pPr marL="171450" indent="-171450" algn="just">
                  <a:buFont typeface="Arial" panose="020B0604020202020204" pitchFamily="34" charset="0"/>
                  <a:buChar char="•"/>
                </a:pPr>
                <a:r>
                  <a:rPr lang="en-IN" sz="1200" dirty="0"/>
                  <a:t>Calculated MAE and </a:t>
                </a:r>
                <a14:m>
                  <m:oMath xmlns:m="http://schemas.openxmlformats.org/officeDocument/2006/math">
                    <m:sSup>
                      <m:sSupPr>
                        <m:ctrlPr>
                          <a:rPr lang="ar-AE" sz="1200"/>
                        </m:ctrlPr>
                      </m:sSupPr>
                      <m:e>
                        <m:r>
                          <a:rPr lang="ar-AE" sz="1200" i="1"/>
                          <m:t>𝑅</m:t>
                        </m:r>
                      </m:e>
                      <m:sup>
                        <m:r>
                          <a:rPr lang="ar-AE" sz="1200"/>
                          <m:t>2</m:t>
                        </m:r>
                      </m:sup>
                    </m:sSup>
                  </m:oMath>
                </a14:m>
                <a:r>
                  <a:rPr lang="ar-AE" sz="1200" dirty="0"/>
                  <a:t> </a:t>
                </a:r>
                <a:r>
                  <a:rPr lang="en-IN" sz="1200" dirty="0"/>
                  <a:t>values quantify model accuracy: lower error and higher </a:t>
                </a:r>
                <a14:m>
                  <m:oMath xmlns:m="http://schemas.openxmlformats.org/officeDocument/2006/math">
                    <m:sSup>
                      <m:sSupPr>
                        <m:ctrlPr>
                          <a:rPr lang="ar-AE" sz="1200"/>
                        </m:ctrlPr>
                      </m:sSupPr>
                      <m:e>
                        <m:r>
                          <a:rPr lang="ar-AE" sz="1200" i="1"/>
                          <m:t>𝑅</m:t>
                        </m:r>
                      </m:e>
                      <m:sup>
                        <m:r>
                          <a:rPr lang="ar-AE" sz="1200"/>
                          <m:t>2</m:t>
                        </m:r>
                      </m:sup>
                    </m:sSup>
                  </m:oMath>
                </a14:m>
                <a:r>
                  <a:rPr lang="ar-AE" sz="1200" dirty="0"/>
                  <a:t> </a:t>
                </a:r>
                <a:r>
                  <a:rPr lang="en-IN" sz="1200" dirty="0"/>
                  <a:t>are evidence of good performance.</a:t>
                </a:r>
              </a:p>
              <a:p>
                <a:pPr marL="171450" indent="-171450" algn="just">
                  <a:buFont typeface="Arial" panose="020B0604020202020204" pitchFamily="34" charset="0"/>
                  <a:buChar char="•"/>
                </a:pPr>
                <a:r>
                  <a:rPr lang="en-IN" sz="1200" dirty="0"/>
                  <a:t>The approach is simple to implement and interpret, providing a foundational demonstration of deep learning for tabular medical/health tasks.</a:t>
                </a:r>
              </a:p>
              <a:p>
                <a:pPr marL="171450" indent="-171450" algn="just">
                  <a:buFont typeface="Arial" panose="020B0604020202020204" pitchFamily="34" charset="0"/>
                  <a:buChar char="•"/>
                </a:pPr>
                <a:r>
                  <a:rPr lang="en-IN" sz="1200" dirty="0"/>
                  <a:t>Deep learning performance improves with more data, additional features, and network tuning (more layers, normalization).</a:t>
                </a:r>
              </a:p>
              <a:p>
                <a:pPr marL="171450" indent="-171450" algn="just">
                  <a:buFont typeface="Arial" panose="020B0604020202020204" pitchFamily="34" charset="0"/>
                  <a:buChar char="•"/>
                </a:pPr>
                <a:r>
                  <a:rPr lang="en-IN" sz="1200" dirty="0"/>
                  <a:t>This work confirms deep learning’s applicability in healthcare forecasting and resource planning, even with a basic neural network.</a:t>
                </a:r>
              </a:p>
              <a:p>
                <a:pPr marL="171450" indent="-171450" algn="just">
                  <a:buFont typeface="Arial" panose="020B0604020202020204" pitchFamily="34" charset="0"/>
                  <a:buChar char="•"/>
                </a:pPr>
                <a:endParaRPr lang="en-US" sz="1200" dirty="0"/>
              </a:p>
              <a:p>
                <a:pPr marL="171450" indent="-171450">
                  <a:buFont typeface="Arial" panose="020B0604020202020204" pitchFamily="34" charset="0"/>
                  <a:buChar char="•"/>
                </a:pPr>
                <a:endParaRPr lang="en-US" sz="1200" dirty="0"/>
              </a:p>
              <a:p>
                <a:pPr marL="171450" indent="-171450" algn="just">
                  <a:buFont typeface="Arial" panose="020B0604020202020204" pitchFamily="34" charset="0"/>
                  <a:buChar char="•"/>
                </a:pPr>
                <a:endParaRPr lang="en-US" sz="1200" dirty="0"/>
              </a:p>
            </p:txBody>
          </p:sp>
        </mc:Choice>
        <mc:Fallback>
          <p:sp>
            <p:nvSpPr>
              <p:cNvPr id="9" name="TextBox 8">
                <a:extLst>
                  <a:ext uri="{FF2B5EF4-FFF2-40B4-BE49-F238E27FC236}">
                    <a16:creationId xmlns:a16="http://schemas.microsoft.com/office/drawing/2014/main" id="{4067D805-51C8-B858-93A2-16790D420C1F}"/>
                  </a:ext>
                </a:extLst>
              </p:cNvPr>
              <p:cNvSpPr txBox="1">
                <a:spLocks noRot="1" noChangeAspect="1" noMove="1" noResize="1" noEditPoints="1" noAdjustHandles="1" noChangeArrowheads="1" noChangeShapeType="1" noTextEdit="1"/>
              </p:cNvSpPr>
              <p:nvPr/>
            </p:nvSpPr>
            <p:spPr>
              <a:xfrm>
                <a:off x="234125" y="1428870"/>
                <a:ext cx="3414829" cy="4532651"/>
              </a:xfrm>
              <a:prstGeom prst="rect">
                <a:avLst/>
              </a:prstGeom>
              <a:blipFill>
                <a:blip r:embed="rId3"/>
                <a:stretch>
                  <a:fillRect/>
                </a:stretch>
              </a:blipFill>
            </p:spPr>
            <p:txBody>
              <a:bodyPr/>
              <a:lstStyle/>
              <a:p>
                <a:r>
                  <a:rPr lang="en-IN">
                    <a:noFill/>
                  </a:rPr>
                  <a:t> </a:t>
                </a:r>
              </a:p>
            </p:txBody>
          </p:sp>
        </mc:Fallback>
      </mc:AlternateContent>
      <p:pic>
        <p:nvPicPr>
          <p:cNvPr id="3074" name="Picture 2" descr="Actual vs Predicted plot for NN regression model on health data with ideal diagonal line.">
            <a:extLst>
              <a:ext uri="{FF2B5EF4-FFF2-40B4-BE49-F238E27FC236}">
                <a16:creationId xmlns:a16="http://schemas.microsoft.com/office/drawing/2014/main" id="{AA927205-7971-9BBB-23F3-AD24B2DB10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2813" y="945052"/>
            <a:ext cx="2679841" cy="267984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6348958-CB4B-9C86-E140-B3123731EA7D}"/>
              </a:ext>
            </a:extLst>
          </p:cNvPr>
          <p:cNvPicPr>
            <a:picLocks noChangeAspect="1"/>
          </p:cNvPicPr>
          <p:nvPr/>
        </p:nvPicPr>
        <p:blipFill>
          <a:blip r:embed="rId5"/>
          <a:stretch>
            <a:fillRect/>
          </a:stretch>
        </p:blipFill>
        <p:spPr>
          <a:xfrm>
            <a:off x="4112738" y="3833361"/>
            <a:ext cx="2644729" cy="2661683"/>
          </a:xfrm>
          <a:prstGeom prst="rect">
            <a:avLst/>
          </a:prstGeom>
        </p:spPr>
      </p:pic>
      <p:sp>
        <p:nvSpPr>
          <p:cNvPr id="11" name="TextBox 10">
            <a:extLst>
              <a:ext uri="{FF2B5EF4-FFF2-40B4-BE49-F238E27FC236}">
                <a16:creationId xmlns:a16="http://schemas.microsoft.com/office/drawing/2014/main" id="{EA909D95-71F7-FB40-A987-337F84F0E325}"/>
              </a:ext>
            </a:extLst>
          </p:cNvPr>
          <p:cNvSpPr txBox="1"/>
          <p:nvPr/>
        </p:nvSpPr>
        <p:spPr>
          <a:xfrm>
            <a:off x="6955999" y="4371611"/>
            <a:ext cx="4579793" cy="1754326"/>
          </a:xfrm>
          <a:prstGeom prst="rect">
            <a:avLst/>
          </a:prstGeom>
          <a:noFill/>
        </p:spPr>
        <p:txBody>
          <a:bodyPr wrap="square">
            <a:spAutoFit/>
          </a:bodyPr>
          <a:lstStyle/>
          <a:p>
            <a:pPr marL="171450" indent="-171450" algn="just">
              <a:buFont typeface="Arial" panose="020B0604020202020204" pitchFamily="34" charset="0"/>
              <a:buChar char="•"/>
            </a:pPr>
            <a:r>
              <a:rPr lang="en-US" sz="1200" b="0" i="0" dirty="0">
                <a:effectLst/>
                <a:latin typeface="fkGroteskNeue"/>
              </a:rPr>
              <a:t>This residual plot helps evaluate the performance of your deep learning regression model by showing the difference between actual and predicted values for each data point (called residuals) against the actual values.</a:t>
            </a:r>
          </a:p>
          <a:p>
            <a:pPr marL="171450" indent="-171450" algn="just">
              <a:buFont typeface="Arial" panose="020B0604020202020204" pitchFamily="34" charset="0"/>
              <a:buChar char="•"/>
            </a:pPr>
            <a:r>
              <a:rPr lang="en-US" sz="1200" b="0" i="0" dirty="0">
                <a:effectLst/>
                <a:latin typeface="fkGrotesk"/>
              </a:rPr>
              <a:t>What the plot indicates:</a:t>
            </a:r>
          </a:p>
          <a:p>
            <a:pPr marL="171450" indent="-171450" algn="just">
              <a:buFont typeface="Arial" panose="020B0604020202020204" pitchFamily="34" charset="0"/>
              <a:buChar char="•"/>
            </a:pPr>
            <a:r>
              <a:rPr lang="en-US" sz="1200" b="0" i="0" dirty="0">
                <a:effectLst/>
                <a:latin typeface="fkGroteskNeue"/>
              </a:rPr>
              <a:t>Residuals scattered around zero line (red horizontal line):</a:t>
            </a:r>
            <a:br>
              <a:rPr lang="en-US" sz="1200" b="0" i="0" dirty="0">
                <a:effectLst/>
                <a:latin typeface="fkGroteskNeue"/>
              </a:rPr>
            </a:br>
            <a:r>
              <a:rPr lang="en-US" sz="1200" b="0" i="0" dirty="0">
                <a:effectLst/>
                <a:latin typeface="fkGroteskNeue"/>
              </a:rPr>
              <a:t>Ideally, residuals should be randomly scattered around zero without any obvious pattern. This shows the model has no systematic bias in prediction.</a:t>
            </a:r>
          </a:p>
        </p:txBody>
      </p:sp>
      <p:sp>
        <p:nvSpPr>
          <p:cNvPr id="15" name="TextBox 14">
            <a:extLst>
              <a:ext uri="{FF2B5EF4-FFF2-40B4-BE49-F238E27FC236}">
                <a16:creationId xmlns:a16="http://schemas.microsoft.com/office/drawing/2014/main" id="{E0ADE157-AB0C-1B32-4A6C-7638B268E59F}"/>
              </a:ext>
            </a:extLst>
          </p:cNvPr>
          <p:cNvSpPr txBox="1"/>
          <p:nvPr/>
        </p:nvSpPr>
        <p:spPr>
          <a:xfrm>
            <a:off x="6994660" y="1248106"/>
            <a:ext cx="4579793" cy="3046988"/>
          </a:xfrm>
          <a:prstGeom prst="rect">
            <a:avLst/>
          </a:prstGeom>
          <a:noFill/>
        </p:spPr>
        <p:txBody>
          <a:bodyPr wrap="square">
            <a:spAutoFit/>
          </a:bodyPr>
          <a:lstStyle/>
          <a:p>
            <a:pPr algn="just">
              <a:buNone/>
            </a:pPr>
            <a:r>
              <a:rPr lang="en-US" sz="1200" b="0" i="0" dirty="0">
                <a:effectLst/>
                <a:latin typeface="fkGroteskNeue"/>
              </a:rPr>
              <a:t>This scatter plot shows the relationship between actual and predicted values for your health metric, likely from a regression model such as a neural network.</a:t>
            </a:r>
          </a:p>
          <a:p>
            <a:pPr algn="just">
              <a:buNone/>
            </a:pPr>
            <a:r>
              <a:rPr lang="en-US" sz="1200" b="0" i="0" dirty="0">
                <a:effectLst/>
                <a:latin typeface="fkGrotesk"/>
              </a:rPr>
              <a:t>What it Indicates</a:t>
            </a:r>
          </a:p>
          <a:p>
            <a:pPr algn="just">
              <a:buFont typeface="Arial" panose="020B0604020202020204" pitchFamily="34" charset="0"/>
              <a:buChar char="•"/>
            </a:pPr>
            <a:r>
              <a:rPr lang="en-US" sz="1200" b="0" i="0" dirty="0">
                <a:effectLst/>
                <a:latin typeface="fkGroteskNeue"/>
              </a:rPr>
              <a:t>Diagonal Line: The solid diagonal indicates where predicted values exactly match actual values (“perfect predictions”).</a:t>
            </a:r>
          </a:p>
          <a:p>
            <a:pPr algn="just">
              <a:buFont typeface="Arial" panose="020B0604020202020204" pitchFamily="34" charset="0"/>
              <a:buChar char="•"/>
            </a:pPr>
            <a:r>
              <a:rPr lang="en-US" sz="1200" b="0" i="0" dirty="0">
                <a:effectLst/>
                <a:latin typeface="fkGroteskNeue"/>
              </a:rPr>
              <a:t>Point Clustering: Most points are tightly clustered along this diagonal, showing the model’s predictions are generally very close to the true values.</a:t>
            </a:r>
          </a:p>
          <a:p>
            <a:pPr algn="just">
              <a:buFont typeface="Arial" panose="020B0604020202020204" pitchFamily="34" charset="0"/>
              <a:buChar char="•"/>
            </a:pPr>
            <a:r>
              <a:rPr lang="en-US" sz="1200" b="0" i="0" dirty="0">
                <a:effectLst/>
                <a:latin typeface="fkGroteskNeue"/>
              </a:rPr>
              <a:t>Spread and Symmetry: There is some expected spread, but the majority of points are symmetrically distributed around the diagonal, indicating low bias and good accuracy.</a:t>
            </a:r>
          </a:p>
          <a:p>
            <a:pPr algn="just">
              <a:buNone/>
            </a:pPr>
            <a:r>
              <a:rPr lang="en-US" sz="1200" b="0" i="0" dirty="0">
                <a:effectLst/>
                <a:latin typeface="fkGrotesk"/>
              </a:rPr>
              <a:t>Interpretation</a:t>
            </a:r>
          </a:p>
          <a:p>
            <a:pPr algn="just">
              <a:buFont typeface="Arial" panose="020B0604020202020204" pitchFamily="34" charset="0"/>
              <a:buChar char="•"/>
            </a:pPr>
            <a:r>
              <a:rPr lang="en-US" sz="1200" b="0" i="0" dirty="0">
                <a:effectLst/>
                <a:latin typeface="fkGroteskNeue"/>
              </a:rPr>
              <a:t>Good Model Fit: The concentration of points along the diagonal means your model is performing very well—the predicted health metrics closely match the actual recorded metrics for most samples.</a:t>
            </a:r>
          </a:p>
        </p:txBody>
      </p:sp>
    </p:spTree>
    <p:extLst>
      <p:ext uri="{BB962C8B-B14F-4D97-AF65-F5344CB8AC3E}">
        <p14:creationId xmlns:p14="http://schemas.microsoft.com/office/powerpoint/2010/main" val="101019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6324C-345D-00F7-62AC-1F1D7C2D2E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3E7B78-6A4A-C8AB-349D-B9A3F08049CA}"/>
              </a:ext>
            </a:extLst>
          </p:cNvPr>
          <p:cNvSpPr txBox="1"/>
          <p:nvPr/>
        </p:nvSpPr>
        <p:spPr>
          <a:xfrm>
            <a:off x="2428568" y="2379406"/>
            <a:ext cx="6794090" cy="1015663"/>
          </a:xfrm>
          <a:prstGeom prst="rect">
            <a:avLst/>
          </a:prstGeom>
          <a:noFill/>
        </p:spPr>
        <p:txBody>
          <a:bodyPr wrap="square" rtlCol="0">
            <a:spAutoFit/>
          </a:bodyPr>
          <a:lstStyle/>
          <a:p>
            <a:r>
              <a:rPr lang="en-IN" sz="6000" b="1" dirty="0">
                <a:solidFill>
                  <a:schemeClr val="bg1"/>
                </a:solidFill>
              </a:rPr>
              <a:t>            Thank You</a:t>
            </a:r>
          </a:p>
        </p:txBody>
      </p:sp>
      <p:pic>
        <p:nvPicPr>
          <p:cNvPr id="6" name="Picture 5">
            <a:extLst>
              <a:ext uri="{FF2B5EF4-FFF2-40B4-BE49-F238E27FC236}">
                <a16:creationId xmlns:a16="http://schemas.microsoft.com/office/drawing/2014/main" id="{64CC8A24-9713-0E2F-A5DF-932ADF350C9D}"/>
              </a:ext>
            </a:extLst>
          </p:cNvPr>
          <p:cNvPicPr>
            <a:picLocks noChangeAspect="1"/>
          </p:cNvPicPr>
          <p:nvPr/>
        </p:nvPicPr>
        <p:blipFill>
          <a:blip r:embed="rId2">
            <a:duotone>
              <a:schemeClr val="accent1">
                <a:shade val="45000"/>
                <a:satMod val="135000"/>
              </a:schemeClr>
              <a:prstClr val="white"/>
            </a:duotone>
          </a:blip>
          <a:stretch>
            <a:fillRect/>
          </a:stretch>
        </p:blipFill>
        <p:spPr>
          <a:xfrm>
            <a:off x="0" y="1207746"/>
            <a:ext cx="12192000" cy="5663699"/>
          </a:xfrm>
          <a:prstGeom prst="rect">
            <a:avLst/>
          </a:prstGeom>
          <a:solidFill>
            <a:srgbClr val="0070C0">
              <a:alpha val="0"/>
            </a:srgbClr>
          </a:solidFill>
        </p:spPr>
      </p:pic>
      <p:sp>
        <p:nvSpPr>
          <p:cNvPr id="7" name="TextBox 6">
            <a:extLst>
              <a:ext uri="{FF2B5EF4-FFF2-40B4-BE49-F238E27FC236}">
                <a16:creationId xmlns:a16="http://schemas.microsoft.com/office/drawing/2014/main" id="{B17DD214-A8FB-1C62-3E65-F37F030670A6}"/>
              </a:ext>
            </a:extLst>
          </p:cNvPr>
          <p:cNvSpPr txBox="1"/>
          <p:nvPr/>
        </p:nvSpPr>
        <p:spPr>
          <a:xfrm>
            <a:off x="4204630" y="2864155"/>
            <a:ext cx="3241965" cy="769441"/>
          </a:xfrm>
          <a:prstGeom prst="rect">
            <a:avLst/>
          </a:prstGeom>
          <a:noFill/>
        </p:spPr>
        <p:txBody>
          <a:bodyPr wrap="square" rtlCol="0">
            <a:spAutoFit/>
          </a:bodyPr>
          <a:lstStyle/>
          <a:p>
            <a:r>
              <a:rPr lang="en-IN" sz="4400" b="1" dirty="0">
                <a:solidFill>
                  <a:schemeClr val="bg1"/>
                </a:solidFill>
                <a:latin typeface="Arial Rounded MT Bold" panose="020F0704030504030204" pitchFamily="34" charset="0"/>
              </a:rPr>
              <a:t>Thank You</a:t>
            </a:r>
          </a:p>
        </p:txBody>
      </p:sp>
      <p:pic>
        <p:nvPicPr>
          <p:cNvPr id="8" name="Picture 7">
            <a:extLst>
              <a:ext uri="{FF2B5EF4-FFF2-40B4-BE49-F238E27FC236}">
                <a16:creationId xmlns:a16="http://schemas.microsoft.com/office/drawing/2014/main" id="{40861D3D-1624-347F-FAE7-5E049456F46B}"/>
              </a:ext>
            </a:extLst>
          </p:cNvPr>
          <p:cNvPicPr>
            <a:picLocks noChangeAspect="1"/>
          </p:cNvPicPr>
          <p:nvPr/>
        </p:nvPicPr>
        <p:blipFill>
          <a:blip r:embed="rId3"/>
          <a:stretch>
            <a:fillRect/>
          </a:stretch>
        </p:blipFill>
        <p:spPr>
          <a:xfrm>
            <a:off x="591070" y="0"/>
            <a:ext cx="11155332" cy="657317"/>
          </a:xfrm>
          <a:prstGeom prst="rect">
            <a:avLst/>
          </a:prstGeom>
        </p:spPr>
      </p:pic>
      <p:sp>
        <p:nvSpPr>
          <p:cNvPr id="10" name="TextBox 9">
            <a:extLst>
              <a:ext uri="{FF2B5EF4-FFF2-40B4-BE49-F238E27FC236}">
                <a16:creationId xmlns:a16="http://schemas.microsoft.com/office/drawing/2014/main" id="{E5FD5C89-CB7D-735B-B126-5AE349BACCC3}"/>
              </a:ext>
            </a:extLst>
          </p:cNvPr>
          <p:cNvSpPr txBox="1"/>
          <p:nvPr/>
        </p:nvSpPr>
        <p:spPr>
          <a:xfrm>
            <a:off x="6972301" y="4641564"/>
            <a:ext cx="4774102" cy="1631216"/>
          </a:xfrm>
          <a:prstGeom prst="rect">
            <a:avLst/>
          </a:prstGeom>
          <a:noFill/>
        </p:spPr>
        <p:txBody>
          <a:bodyPr wrap="square" rtlCol="0">
            <a:spAutoFit/>
          </a:bodyPr>
          <a:lstStyle/>
          <a:p>
            <a:pPr marL="285750" indent="-285750">
              <a:buFontTx/>
              <a:buChar char="-"/>
            </a:pPr>
            <a:r>
              <a:rPr lang="en-IN" sz="2000" b="1" dirty="0">
                <a:solidFill>
                  <a:schemeClr val="bg1"/>
                </a:solidFill>
                <a:latin typeface="Times New Roman" panose="02020603050405020304" pitchFamily="18" charset="0"/>
                <a:cs typeface="Times New Roman" panose="02020603050405020304" pitchFamily="18" charset="0"/>
              </a:rPr>
              <a:t>By Arya Kashikar </a:t>
            </a:r>
          </a:p>
          <a:p>
            <a:pPr marL="285750" indent="-285750">
              <a:buFontTx/>
              <a:buChar char="-"/>
            </a:pPr>
            <a:r>
              <a:rPr lang="en-IN" sz="2000" b="1" dirty="0">
                <a:solidFill>
                  <a:schemeClr val="bg1"/>
                </a:solidFill>
                <a:latin typeface="Times New Roman" panose="02020603050405020304" pitchFamily="18" charset="0"/>
                <a:cs typeface="Times New Roman" panose="02020603050405020304" pitchFamily="18" charset="0"/>
              </a:rPr>
              <a:t>PRN : 22070521036</a:t>
            </a:r>
          </a:p>
          <a:p>
            <a:pPr marL="285750" indent="-285750">
              <a:buFontTx/>
              <a:buChar char="-"/>
            </a:pPr>
            <a:r>
              <a:rPr lang="en-IN" sz="2000" b="1" dirty="0">
                <a:solidFill>
                  <a:schemeClr val="bg1"/>
                </a:solidFill>
                <a:latin typeface="Times New Roman" panose="02020603050405020304" pitchFamily="18" charset="0"/>
                <a:cs typeface="Times New Roman" panose="02020603050405020304" pitchFamily="18" charset="0"/>
              </a:rPr>
              <a:t>Sec : A</a:t>
            </a:r>
          </a:p>
          <a:p>
            <a:pPr marL="285750" indent="-285750">
              <a:buFontTx/>
              <a:buChar char="-"/>
            </a:pPr>
            <a:r>
              <a:rPr lang="en-IN" sz="2000" b="1" dirty="0">
                <a:solidFill>
                  <a:schemeClr val="bg1"/>
                </a:solidFill>
                <a:latin typeface="Times New Roman" panose="02020603050405020304" pitchFamily="18" charset="0"/>
                <a:cs typeface="Times New Roman" panose="02020603050405020304" pitchFamily="18" charset="0"/>
              </a:rPr>
              <a:t>Subject : Data Science</a:t>
            </a:r>
          </a:p>
          <a:p>
            <a:pPr marL="285750" indent="-285750">
              <a:buFontTx/>
              <a:buChar char="-"/>
            </a:pPr>
            <a:r>
              <a:rPr lang="en-IN" sz="2000" b="1" dirty="0">
                <a:solidFill>
                  <a:schemeClr val="bg1"/>
                </a:solidFill>
                <a:latin typeface="Times New Roman" panose="02020603050405020304" pitchFamily="18" charset="0"/>
                <a:cs typeface="Times New Roman" panose="02020603050405020304" pitchFamily="18" charset="0"/>
              </a:rPr>
              <a:t>Faculty In-charge: Dr Piyush Chauhan</a:t>
            </a:r>
          </a:p>
        </p:txBody>
      </p:sp>
    </p:spTree>
    <p:extLst>
      <p:ext uri="{BB962C8B-B14F-4D97-AF65-F5344CB8AC3E}">
        <p14:creationId xmlns:p14="http://schemas.microsoft.com/office/powerpoint/2010/main" val="2687142149"/>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0E2841"/>
      </a:dk2>
      <a:lt2>
        <a:srgbClr val="E8E8E8"/>
      </a:lt2>
      <a:accent1>
        <a:srgbClr val="0070C0"/>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6051</TotalTime>
  <Words>1907</Words>
  <Application>Microsoft Office PowerPoint</Application>
  <PresentationFormat>Widescreen</PresentationFormat>
  <Paragraphs>140</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Aptos</vt:lpstr>
      <vt:lpstr>Aptos Display</vt:lpstr>
      <vt:lpstr>Arial</vt:lpstr>
      <vt:lpstr>Arial Rounded MT Bold</vt:lpstr>
      <vt:lpstr>fkGrotesk</vt:lpstr>
      <vt:lpstr>fkGroteskNeue</vt:lpstr>
      <vt:lpstr>menlo</vt:lpstr>
      <vt:lpstr>Rubik</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Mrunali Mishra</dc:creator>
  <cp:lastModifiedBy>Arya Kashikar</cp:lastModifiedBy>
  <cp:revision>7</cp:revision>
  <dcterms:created xsi:type="dcterms:W3CDTF">2025-07-09T08:36:41Z</dcterms:created>
  <dcterms:modified xsi:type="dcterms:W3CDTF">2025-10-31T17:31:10Z</dcterms:modified>
</cp:coreProperties>
</file>